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one-line framing of the project: a data-quality layer for cold-chain IoT monitoring, built for Sri Lankan retail SMEs.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orientation slide, about 15 seconds. Lets the audience know where the presentation is headed before diving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30-second pitch here: this sits between IoT sensors and the business decisions made from them, and its job is trust, not just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background section from the proposal, condensed for an audience seeing it for the first time. Keep it brief — the next slides are where this gets proven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fast here, about 60-90 seconds. The point is only to establish the problem is industry-documented, not invented. Don't over-read the stats, just land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slide. Say explicitly: that's the industry picture, here's what I found in my own analysis. The debugging story at the bottom is a strong credibility signal, don't rush past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as a three-way triangulation: industry said it, research confirms it's common, my code catches it. That's the strongest form of evidence available at this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proposal's own diagram realized, box by box. Emphasize the ingestion API specifically — it's the piece most likely to get a follow-up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live feed is running, mention the readings are arriving through the real ingestion API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the real data is mostly clean — that's expected and correct, not a weak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in the deck. It proves understanding of WHY data quality is hard, not just that anomalies can be flagged. Let the contrast speak, don't rush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Walk-in Cooler Unit 3 is the only unit that ever breaches its limit, chiefly days 4, 7 and 8. State plainly that the impact model is a documented heuristic, not a calibrated spoilage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allows, show the staff-restricted view here live: the same fault-injection buttons, disabled, with the role requirement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 this before questions. It reads as far more competent than being caught out by a reviewer who finds the gap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progress section on a confident, forward-looking note before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to open the live dashboard again for any specific question — having it already running removes friction.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B2D"/>
          </a:solidFill>
          <a:ln/>
        </p:spPr>
      </p:sp>
      <p:sp>
        <p:nvSpPr>
          <p:cNvPr id="3" name="Text 1"/>
          <p:cNvSpPr txBox="1"/>
          <p:nvPr/>
        </p:nvSpPr>
        <p:spPr>
          <a:xfrm>
            <a:off x="9966960" y="457200"/>
            <a:ext cx="1828800" cy="1828800"/>
          </a:xfrm>
          <a:prstGeom prst="rect">
            <a:avLst/>
          </a:prstGeom>
          <a:noFill/>
          <a:ln/>
        </p:spPr>
        <p:txBody>
          <a:bodyPr wrap="square" lIns="0" tIns="0" rIns="0" bIns="0" rtlCol="0" anchor="ctr"/>
          <a:lstStyle/>
          <a:p>
            <a:pPr algn="ctr" indent="0" marL="0">
              <a:buNone/>
            </a:pPr>
            <a:r>
              <a:rPr lang="en-US" sz="14000" dirty="0">
                <a:solidFill>
                  <a:srgbClr val="18273D"/>
                </a:solidFill>
                <a:latin typeface="Arial" pitchFamily="34" charset="0"/>
                <a:ea typeface="Arial" pitchFamily="34" charset="-122"/>
                <a:cs typeface="Arial" pitchFamily="34" charset="-120"/>
              </a:rPr>
              <a:t>❄</a:t>
            </a:r>
            <a:endParaRPr lang="en-US" sz="14000" dirty="0"/>
          </a:p>
        </p:txBody>
      </p:sp>
      <p:sp>
        <p:nvSpPr>
          <p:cNvPr id="4" name="Text 2"/>
          <p:cNvSpPr txBox="1"/>
          <p:nvPr/>
        </p:nvSpPr>
        <p:spPr>
          <a:xfrm>
            <a:off x="-548640" y="4206240"/>
            <a:ext cx="2011680" cy="2011680"/>
          </a:xfrm>
          <a:prstGeom prst="rect">
            <a:avLst/>
          </a:prstGeom>
          <a:noFill/>
          <a:ln/>
        </p:spPr>
        <p:txBody>
          <a:bodyPr wrap="square" lIns="0" tIns="0" rIns="0" bIns="0" rtlCol="0" anchor="ctr"/>
          <a:lstStyle/>
          <a:p>
            <a:pPr algn="ctr" indent="0" marL="0">
              <a:buNone/>
            </a:pPr>
            <a:r>
              <a:rPr lang="en-US" sz="16000" dirty="0">
                <a:solidFill>
                  <a:srgbClr val="18273D"/>
                </a:solidFill>
                <a:latin typeface="Arial" pitchFamily="34" charset="0"/>
                <a:ea typeface="Arial" pitchFamily="34" charset="-122"/>
                <a:cs typeface="Arial" pitchFamily="34" charset="-120"/>
              </a:rPr>
              <a:t>❄</a:t>
            </a:r>
            <a:endParaRPr lang="en-US" sz="16000" dirty="0"/>
          </a:p>
        </p:txBody>
      </p:sp>
      <p:sp>
        <p:nvSpPr>
          <p:cNvPr id="5" name="Text 3"/>
          <p:cNvSpPr txBox="1"/>
          <p:nvPr/>
        </p:nvSpPr>
        <p:spPr>
          <a:xfrm>
            <a:off x="822960" y="1965960"/>
            <a:ext cx="105156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  ColdSense-DQ</a:t>
            </a:r>
            <a:endParaRPr lang="en-US" sz="4600" dirty="0"/>
          </a:p>
        </p:txBody>
      </p:sp>
      <p:sp>
        <p:nvSpPr>
          <p:cNvPr id="6" name="Text 4"/>
          <p:cNvSpPr txBox="1"/>
          <p:nvPr/>
        </p:nvSpPr>
        <p:spPr>
          <a:xfrm>
            <a:off x="868680" y="2743200"/>
            <a:ext cx="9601200" cy="50292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A Data-Quality-Driven Cold-Chain Intelligence Platform</a:t>
            </a:r>
            <a:endParaRPr lang="en-US" sz="1900" dirty="0"/>
          </a:p>
        </p:txBody>
      </p:sp>
      <p:sp>
        <p:nvSpPr>
          <p:cNvPr id="7" name="Shape 5"/>
          <p:cNvSpPr/>
          <p:nvPr/>
        </p:nvSpPr>
        <p:spPr>
          <a:xfrm>
            <a:off x="868680" y="3429000"/>
            <a:ext cx="3291840" cy="502920"/>
          </a:xfrm>
          <a:prstGeom prst="roundRect">
            <a:avLst>
              <a:gd name="adj" fmla="val 18182"/>
            </a:avLst>
          </a:prstGeom>
          <a:solidFill>
            <a:srgbClr val="0B63B6"/>
          </a:solidFill>
          <a:ln/>
        </p:spPr>
      </p:sp>
      <p:sp>
        <p:nvSpPr>
          <p:cNvPr id="8" name="Text 6"/>
          <p:cNvSpPr txBox="1"/>
          <p:nvPr/>
        </p:nvSpPr>
        <p:spPr>
          <a:xfrm>
            <a:off x="868680" y="3429000"/>
            <a:ext cx="3291840" cy="50292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PROGRESS PRESENTATION</a:t>
            </a:r>
            <a:endParaRPr lang="en-US" sz="1200" dirty="0"/>
          </a:p>
        </p:txBody>
      </p:sp>
      <p:sp>
        <p:nvSpPr>
          <p:cNvPr id="9" name="Text 7"/>
          <p:cNvSpPr txBox="1"/>
          <p:nvPr/>
        </p:nvSpPr>
        <p:spPr>
          <a:xfrm>
            <a:off x="868680" y="5943600"/>
            <a:ext cx="7315200" cy="365760"/>
          </a:xfrm>
          <a:prstGeom prst="rect">
            <a:avLst/>
          </a:prstGeom>
          <a:noFill/>
          <a:ln/>
        </p:spPr>
        <p:txBody>
          <a:bodyPr wrap="square" lIns="0" tIns="0" rIns="0" bIns="0" rtlCol="0" anchor="ctr"/>
          <a:lstStyle/>
          <a:p>
            <a:pPr indent="0" marL="0">
              <a:buNone/>
            </a:pPr>
            <a:r>
              <a:rPr lang="en-US" sz="1300" dirty="0">
                <a:solidFill>
                  <a:srgbClr val="93A4BD"/>
                </a:solidFill>
                <a:latin typeface="Calibri" pitchFamily="34" charset="0"/>
                <a:ea typeface="Calibri" pitchFamily="34" charset="-122"/>
                <a:cs typeface="Calibri" pitchFamily="34" charset="-120"/>
              </a:rPr>
              <a:t>CO3554 – Data Management Project</a:t>
            </a:r>
            <a:endParaRPr lang="en-US" sz="1300" dirty="0"/>
          </a:p>
        </p:txBody>
      </p:sp>
      <p:sp>
        <p:nvSpPr>
          <p:cNvPr id="10" name="Text 8"/>
          <p:cNvSpPr txBox="1"/>
          <p:nvPr/>
        </p:nvSpPr>
        <p:spPr>
          <a:xfrm>
            <a:off x="868680" y="6263640"/>
            <a:ext cx="73152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22/ENG/162 – W.P.A. Amarasekara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8229600" cy="274320"/>
          </a:xfrm>
          <a:prstGeom prst="rect">
            <a:avLst/>
          </a:prstGeom>
          <a:noFill/>
          <a:ln/>
        </p:spPr>
        <p:txBody>
          <a:bodyPr wrap="square" rtlCol="0" anchor="ctr"/>
          <a:lstStyle/>
          <a:p>
            <a:pPr indent="0" marL="0">
              <a:buNone/>
            </a:pPr>
            <a:r>
              <a:rPr lang="en-US" sz="1200" b="1" spc="200" kern="0" dirty="0">
                <a:solidFill>
                  <a:srgbClr val="0B63B6"/>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502920" y="548640"/>
            <a:ext cx="11155680" cy="640080"/>
          </a:xfrm>
          <a:prstGeom prst="rect">
            <a:avLst/>
          </a:prstGeom>
          <a:noFill/>
          <a:ln/>
        </p:spPr>
        <p:txBody>
          <a:bodyPr wrap="square" lIns="0" tIns="0" rIns="0" bIns="0" rtlCol="0" anchor="ctr"/>
          <a:lstStyle/>
          <a:p>
            <a:pPr indent="0" marL="0">
              <a:buNone/>
            </a:pPr>
            <a:r>
              <a:rPr lang="en-US" sz="3000" b="1" dirty="0">
                <a:solidFill>
                  <a:srgbClr val="182033"/>
                </a:solidFill>
                <a:latin typeface="Cambria" pitchFamily="34" charset="0"/>
                <a:ea typeface="Cambria" pitchFamily="34" charset="-122"/>
                <a:cs typeface="Cambria" pitchFamily="34" charset="-120"/>
              </a:rPr>
              <a:t>What I'll Cover Today</a:t>
            </a:r>
            <a:endParaRPr lang="en-US" sz="3000" dirty="0"/>
          </a:p>
        </p:txBody>
      </p:sp>
      <p:sp>
        <p:nvSpPr>
          <p:cNvPr id="4" name="Shape 2"/>
          <p:cNvSpPr/>
          <p:nvPr/>
        </p:nvSpPr>
        <p:spPr>
          <a:xfrm>
            <a:off x="502920" y="2103120"/>
            <a:ext cx="2594610" cy="3017520"/>
          </a:xfrm>
          <a:prstGeom prst="roundRect">
            <a:avLst>
              <a:gd name="adj" fmla="val 2819"/>
            </a:avLst>
          </a:prstGeom>
          <a:solidFill>
            <a:srgbClr val="F4F6F9"/>
          </a:solidFill>
          <a:ln w="9525">
            <a:solidFill>
              <a:srgbClr val="DDE3EC"/>
            </a:solidFill>
            <a:prstDash val="solid"/>
          </a:ln>
        </p:spPr>
      </p:sp>
      <p:sp>
        <p:nvSpPr>
          <p:cNvPr id="5" name="Shape 3"/>
          <p:cNvSpPr/>
          <p:nvPr/>
        </p:nvSpPr>
        <p:spPr>
          <a:xfrm>
            <a:off x="777240" y="2377440"/>
            <a:ext cx="548640" cy="548640"/>
          </a:xfrm>
          <a:prstGeom prst="ellipse">
            <a:avLst/>
          </a:prstGeom>
          <a:solidFill>
            <a:srgbClr val="0B63B6"/>
          </a:solidFill>
          <a:ln/>
        </p:spPr>
      </p:sp>
      <p:sp>
        <p:nvSpPr>
          <p:cNvPr id="6" name="Text 4"/>
          <p:cNvSpPr txBox="1"/>
          <p:nvPr/>
        </p:nvSpPr>
        <p:spPr>
          <a:xfrm>
            <a:off x="777240" y="2377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777240" y="3108960"/>
            <a:ext cx="2045970" cy="822960"/>
          </a:xfrm>
          <a:prstGeom prst="rect">
            <a:avLst/>
          </a:prstGeom>
          <a:noFill/>
          <a:ln/>
        </p:spPr>
        <p:txBody>
          <a:bodyPr wrap="square" lIns="0" tIns="0" rIns="0" bIns="0" rtlCol="0" anchor="ctr"/>
          <a:lstStyle/>
          <a:p>
            <a:pPr indent="0" marL="0">
              <a:lnSpc>
                <a:spcPct val="110000"/>
              </a:lnSpc>
              <a:buNone/>
            </a:pPr>
            <a:r>
              <a:rPr lang="en-US" sz="1450" b="1" dirty="0">
                <a:solidFill>
                  <a:srgbClr val="182033"/>
                </a:solidFill>
                <a:latin typeface="Cambria" pitchFamily="34" charset="0"/>
                <a:ea typeface="Cambria" pitchFamily="34" charset="-122"/>
                <a:cs typeface="Cambria" pitchFamily="34" charset="-120"/>
              </a:rPr>
              <a:t>Project Overview</a:t>
            </a:r>
            <a:endParaRPr lang="en-US" sz="1450" dirty="0"/>
          </a:p>
        </p:txBody>
      </p:sp>
      <p:sp>
        <p:nvSpPr>
          <p:cNvPr id="8" name="Text 6"/>
          <p:cNvSpPr txBox="1"/>
          <p:nvPr/>
        </p:nvSpPr>
        <p:spPr>
          <a:xfrm>
            <a:off x="777240" y="3931920"/>
            <a:ext cx="2045970" cy="1005840"/>
          </a:xfrm>
          <a:prstGeom prst="rect">
            <a:avLst/>
          </a:prstGeom>
          <a:noFill/>
          <a:ln/>
        </p:spPr>
        <p:txBody>
          <a:bodyPr wrap="square" lIns="0" tIns="0" rIns="0" bIns="0" rtlCol="0" anchor="ctr"/>
          <a:lstStyle/>
          <a:p>
            <a:pPr indent="0" marL="0">
              <a:lnSpc>
                <a:spcPct val="115000"/>
              </a:lnSpc>
              <a:buNone/>
            </a:pPr>
            <a:r>
              <a:rPr lang="en-US" sz="1150" dirty="0">
                <a:solidFill>
                  <a:srgbClr val="5B6577"/>
                </a:solidFill>
                <a:latin typeface="Calibri" pitchFamily="34" charset="0"/>
                <a:ea typeface="Calibri" pitchFamily="34" charset="-122"/>
                <a:cs typeface="Calibri" pitchFamily="34" charset="-120"/>
              </a:rPr>
              <a:t>What ColdSense-DQ is, and the problem it's built to solve</a:t>
            </a:r>
            <a:endParaRPr lang="en-US" sz="1150" dirty="0"/>
          </a:p>
        </p:txBody>
      </p:sp>
      <p:sp>
        <p:nvSpPr>
          <p:cNvPr id="9" name="Shape 7"/>
          <p:cNvSpPr/>
          <p:nvPr/>
        </p:nvSpPr>
        <p:spPr>
          <a:xfrm>
            <a:off x="3371850" y="2103120"/>
            <a:ext cx="2594610" cy="3017520"/>
          </a:xfrm>
          <a:prstGeom prst="roundRect">
            <a:avLst>
              <a:gd name="adj" fmla="val 2819"/>
            </a:avLst>
          </a:prstGeom>
          <a:solidFill>
            <a:srgbClr val="E6F0FA"/>
          </a:solidFill>
          <a:ln w="9525">
            <a:solidFill>
              <a:srgbClr val="DDE3EC"/>
            </a:solidFill>
            <a:prstDash val="solid"/>
          </a:ln>
        </p:spPr>
      </p:sp>
      <p:sp>
        <p:nvSpPr>
          <p:cNvPr id="10" name="Shape 8"/>
          <p:cNvSpPr/>
          <p:nvPr/>
        </p:nvSpPr>
        <p:spPr>
          <a:xfrm>
            <a:off x="3646170" y="2377440"/>
            <a:ext cx="548640" cy="548640"/>
          </a:xfrm>
          <a:prstGeom prst="ellipse">
            <a:avLst/>
          </a:prstGeom>
          <a:solidFill>
            <a:srgbClr val="0B63B6"/>
          </a:solidFill>
          <a:ln/>
        </p:spPr>
      </p:sp>
      <p:sp>
        <p:nvSpPr>
          <p:cNvPr id="11" name="Text 9"/>
          <p:cNvSpPr txBox="1"/>
          <p:nvPr/>
        </p:nvSpPr>
        <p:spPr>
          <a:xfrm>
            <a:off x="3646170" y="2377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3646170" y="3108960"/>
            <a:ext cx="2045970" cy="822960"/>
          </a:xfrm>
          <a:prstGeom prst="rect">
            <a:avLst/>
          </a:prstGeom>
          <a:noFill/>
          <a:ln/>
        </p:spPr>
        <p:txBody>
          <a:bodyPr wrap="square" lIns="0" tIns="0" rIns="0" bIns="0" rtlCol="0" anchor="ctr"/>
          <a:lstStyle/>
          <a:p>
            <a:pPr indent="0" marL="0">
              <a:lnSpc>
                <a:spcPct val="110000"/>
              </a:lnSpc>
              <a:buNone/>
            </a:pPr>
            <a:r>
              <a:rPr lang="en-US" sz="1450" b="1" dirty="0">
                <a:solidFill>
                  <a:srgbClr val="182033"/>
                </a:solidFill>
                <a:latin typeface="Cambria" pitchFamily="34" charset="0"/>
                <a:ea typeface="Cambria" pitchFamily="34" charset="-122"/>
                <a:cs typeface="Cambria" pitchFamily="34" charset="-120"/>
              </a:rPr>
              <a:t>Is This Problem Real?</a:t>
            </a:r>
            <a:endParaRPr lang="en-US" sz="1450" dirty="0"/>
          </a:p>
        </p:txBody>
      </p:sp>
      <p:sp>
        <p:nvSpPr>
          <p:cNvPr id="13" name="Text 11"/>
          <p:cNvSpPr txBox="1"/>
          <p:nvPr/>
        </p:nvSpPr>
        <p:spPr>
          <a:xfrm>
            <a:off x="3646170" y="3931920"/>
            <a:ext cx="2045970" cy="1005840"/>
          </a:xfrm>
          <a:prstGeom prst="rect">
            <a:avLst/>
          </a:prstGeom>
          <a:noFill/>
          <a:ln/>
        </p:spPr>
        <p:txBody>
          <a:bodyPr wrap="square" lIns="0" tIns="0" rIns="0" bIns="0" rtlCol="0" anchor="ctr"/>
          <a:lstStyle/>
          <a:p>
            <a:pPr indent="0" marL="0">
              <a:lnSpc>
                <a:spcPct val="115000"/>
              </a:lnSpc>
              <a:buNone/>
            </a:pPr>
            <a:r>
              <a:rPr lang="en-US" sz="1150" dirty="0">
                <a:solidFill>
                  <a:srgbClr val="5B6577"/>
                </a:solidFill>
                <a:latin typeface="Calibri" pitchFamily="34" charset="0"/>
                <a:ea typeface="Calibri" pitchFamily="34" charset="-122"/>
                <a:cs typeface="Calibri" pitchFamily="34" charset="-120"/>
              </a:rPr>
              <a:t>Industry evidence and my own analysis of real sensor data</a:t>
            </a:r>
            <a:endParaRPr lang="en-US" sz="1150" dirty="0"/>
          </a:p>
        </p:txBody>
      </p:sp>
      <p:sp>
        <p:nvSpPr>
          <p:cNvPr id="14" name="Shape 12"/>
          <p:cNvSpPr/>
          <p:nvPr/>
        </p:nvSpPr>
        <p:spPr>
          <a:xfrm>
            <a:off x="6240780" y="2103120"/>
            <a:ext cx="2594610" cy="3017520"/>
          </a:xfrm>
          <a:prstGeom prst="roundRect">
            <a:avLst>
              <a:gd name="adj" fmla="val 2819"/>
            </a:avLst>
          </a:prstGeom>
          <a:solidFill>
            <a:srgbClr val="F4F6F9"/>
          </a:solidFill>
          <a:ln w="9525">
            <a:solidFill>
              <a:srgbClr val="DDE3EC"/>
            </a:solidFill>
            <a:prstDash val="solid"/>
          </a:ln>
        </p:spPr>
      </p:sp>
      <p:sp>
        <p:nvSpPr>
          <p:cNvPr id="15" name="Shape 13"/>
          <p:cNvSpPr/>
          <p:nvPr/>
        </p:nvSpPr>
        <p:spPr>
          <a:xfrm>
            <a:off x="6515100" y="2377440"/>
            <a:ext cx="548640" cy="548640"/>
          </a:xfrm>
          <a:prstGeom prst="ellipse">
            <a:avLst/>
          </a:prstGeom>
          <a:solidFill>
            <a:srgbClr val="0B63B6"/>
          </a:solidFill>
          <a:ln/>
        </p:spPr>
      </p:sp>
      <p:sp>
        <p:nvSpPr>
          <p:cNvPr id="16" name="Text 14"/>
          <p:cNvSpPr txBox="1"/>
          <p:nvPr/>
        </p:nvSpPr>
        <p:spPr>
          <a:xfrm>
            <a:off x="6515100" y="2377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txBox="1"/>
          <p:nvPr/>
        </p:nvSpPr>
        <p:spPr>
          <a:xfrm>
            <a:off x="6515100" y="3108960"/>
            <a:ext cx="2045970" cy="822960"/>
          </a:xfrm>
          <a:prstGeom prst="rect">
            <a:avLst/>
          </a:prstGeom>
          <a:noFill/>
          <a:ln/>
        </p:spPr>
        <p:txBody>
          <a:bodyPr wrap="square" lIns="0" tIns="0" rIns="0" bIns="0" rtlCol="0" anchor="ctr"/>
          <a:lstStyle/>
          <a:p>
            <a:pPr indent="0" marL="0">
              <a:lnSpc>
                <a:spcPct val="110000"/>
              </a:lnSpc>
              <a:buNone/>
            </a:pPr>
            <a:r>
              <a:rPr lang="en-US" sz="1450" b="1" dirty="0">
                <a:solidFill>
                  <a:srgbClr val="182033"/>
                </a:solidFill>
                <a:latin typeface="Cambria" pitchFamily="34" charset="0"/>
                <a:ea typeface="Cambria" pitchFamily="34" charset="-122"/>
                <a:cs typeface="Cambria" pitchFamily="34" charset="-120"/>
              </a:rPr>
              <a:t>Progress &amp; Live Demo</a:t>
            </a:r>
            <a:endParaRPr lang="en-US" sz="1450" dirty="0"/>
          </a:p>
        </p:txBody>
      </p:sp>
      <p:sp>
        <p:nvSpPr>
          <p:cNvPr id="18" name="Text 16"/>
          <p:cNvSpPr txBox="1"/>
          <p:nvPr/>
        </p:nvSpPr>
        <p:spPr>
          <a:xfrm>
            <a:off x="6515100" y="3931920"/>
            <a:ext cx="2045970" cy="1005840"/>
          </a:xfrm>
          <a:prstGeom prst="rect">
            <a:avLst/>
          </a:prstGeom>
          <a:noFill/>
          <a:ln/>
        </p:spPr>
        <p:txBody>
          <a:bodyPr wrap="square" lIns="0" tIns="0" rIns="0" bIns="0" rtlCol="0" anchor="ctr"/>
          <a:lstStyle/>
          <a:p>
            <a:pPr indent="0" marL="0">
              <a:lnSpc>
                <a:spcPct val="115000"/>
              </a:lnSpc>
              <a:buNone/>
            </a:pPr>
            <a:r>
              <a:rPr lang="en-US" sz="1150" dirty="0">
                <a:solidFill>
                  <a:srgbClr val="5B6577"/>
                </a:solidFill>
                <a:latin typeface="Calibri" pitchFamily="34" charset="0"/>
                <a:ea typeface="Calibri" pitchFamily="34" charset="-122"/>
                <a:cs typeface="Calibri" pitchFamily="34" charset="-120"/>
              </a:rPr>
              <a:t>The architecture, built and running — walked through live</a:t>
            </a:r>
            <a:endParaRPr lang="en-US" sz="1150" dirty="0"/>
          </a:p>
        </p:txBody>
      </p:sp>
      <p:sp>
        <p:nvSpPr>
          <p:cNvPr id="19" name="Shape 17"/>
          <p:cNvSpPr/>
          <p:nvPr/>
        </p:nvSpPr>
        <p:spPr>
          <a:xfrm>
            <a:off x="9109710" y="2103120"/>
            <a:ext cx="2594610" cy="3017520"/>
          </a:xfrm>
          <a:prstGeom prst="roundRect">
            <a:avLst>
              <a:gd name="adj" fmla="val 2819"/>
            </a:avLst>
          </a:prstGeom>
          <a:solidFill>
            <a:srgbClr val="E6F0FA"/>
          </a:solidFill>
          <a:ln w="9525">
            <a:solidFill>
              <a:srgbClr val="DDE3EC"/>
            </a:solidFill>
            <a:prstDash val="solid"/>
          </a:ln>
        </p:spPr>
      </p:sp>
      <p:sp>
        <p:nvSpPr>
          <p:cNvPr id="20" name="Shape 18"/>
          <p:cNvSpPr/>
          <p:nvPr/>
        </p:nvSpPr>
        <p:spPr>
          <a:xfrm>
            <a:off x="9384030" y="2377440"/>
            <a:ext cx="548640" cy="548640"/>
          </a:xfrm>
          <a:prstGeom prst="ellipse">
            <a:avLst/>
          </a:prstGeom>
          <a:solidFill>
            <a:srgbClr val="0B63B6"/>
          </a:solidFill>
          <a:ln/>
        </p:spPr>
      </p:sp>
      <p:sp>
        <p:nvSpPr>
          <p:cNvPr id="21" name="Text 19"/>
          <p:cNvSpPr txBox="1"/>
          <p:nvPr/>
        </p:nvSpPr>
        <p:spPr>
          <a:xfrm>
            <a:off x="9384030" y="2377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txBox="1"/>
          <p:nvPr/>
        </p:nvSpPr>
        <p:spPr>
          <a:xfrm>
            <a:off x="9384030" y="3108960"/>
            <a:ext cx="2045970" cy="822960"/>
          </a:xfrm>
          <a:prstGeom prst="rect">
            <a:avLst/>
          </a:prstGeom>
          <a:noFill/>
          <a:ln/>
        </p:spPr>
        <p:txBody>
          <a:bodyPr wrap="square" lIns="0" tIns="0" rIns="0" bIns="0" rtlCol="0" anchor="ctr"/>
          <a:lstStyle/>
          <a:p>
            <a:pPr indent="0" marL="0">
              <a:lnSpc>
                <a:spcPct val="110000"/>
              </a:lnSpc>
              <a:buNone/>
            </a:pPr>
            <a:r>
              <a:rPr lang="en-US" sz="1450" b="1" dirty="0">
                <a:solidFill>
                  <a:srgbClr val="182033"/>
                </a:solidFill>
                <a:latin typeface="Cambria" pitchFamily="34" charset="0"/>
                <a:ea typeface="Cambria" pitchFamily="34" charset="-122"/>
                <a:cs typeface="Cambria" pitchFamily="34" charset="-120"/>
              </a:rPr>
              <a:t>Limitations &amp; Next Steps</a:t>
            </a:r>
            <a:endParaRPr lang="en-US" sz="1450" dirty="0"/>
          </a:p>
        </p:txBody>
      </p:sp>
      <p:sp>
        <p:nvSpPr>
          <p:cNvPr id="23" name="Text 21"/>
          <p:cNvSpPr txBox="1"/>
          <p:nvPr/>
        </p:nvSpPr>
        <p:spPr>
          <a:xfrm>
            <a:off x="9384030" y="3931920"/>
            <a:ext cx="2045970" cy="1005840"/>
          </a:xfrm>
          <a:prstGeom prst="rect">
            <a:avLst/>
          </a:prstGeom>
          <a:noFill/>
          <a:ln/>
        </p:spPr>
        <p:txBody>
          <a:bodyPr wrap="square" lIns="0" tIns="0" rIns="0" bIns="0" rtlCol="0" anchor="ctr"/>
          <a:lstStyle/>
          <a:p>
            <a:pPr indent="0" marL="0">
              <a:lnSpc>
                <a:spcPct val="115000"/>
              </a:lnSpc>
              <a:buNone/>
            </a:pPr>
            <a:r>
              <a:rPr lang="en-US" sz="1150" dirty="0">
                <a:solidFill>
                  <a:srgbClr val="5B6577"/>
                </a:solidFill>
                <a:latin typeface="Calibri" pitchFamily="34" charset="0"/>
                <a:ea typeface="Calibri" pitchFamily="34" charset="-122"/>
                <a:cs typeface="Calibri" pitchFamily="34" charset="-120"/>
              </a:rPr>
              <a:t>What's honestly still missing, and what comes next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8229600" cy="274320"/>
          </a:xfrm>
          <a:prstGeom prst="rect">
            <a:avLst/>
          </a:prstGeom>
          <a:noFill/>
          <a:ln/>
        </p:spPr>
        <p:txBody>
          <a:bodyPr wrap="square" rtlCol="0" anchor="ctr"/>
          <a:lstStyle/>
          <a:p>
            <a:pPr indent="0" marL="0">
              <a:buNone/>
            </a:pPr>
            <a:r>
              <a:rPr lang="en-US" sz="1200" b="1" spc="200" kern="0" dirty="0">
                <a:solidFill>
                  <a:srgbClr val="0B63B6"/>
                </a:solidFill>
                <a:latin typeface="Calibri" pitchFamily="34" charset="0"/>
                <a:ea typeface="Calibri" pitchFamily="34" charset="-122"/>
                <a:cs typeface="Calibri" pitchFamily="34" charset="-120"/>
              </a:rPr>
              <a:t>PROJECT OVERVIEW</a:t>
            </a:r>
            <a:endParaRPr lang="en-US" sz="1200" dirty="0"/>
          </a:p>
        </p:txBody>
      </p:sp>
      <p:sp>
        <p:nvSpPr>
          <p:cNvPr id="3" name="Text 1"/>
          <p:cNvSpPr txBox="1"/>
          <p:nvPr/>
        </p:nvSpPr>
        <p:spPr>
          <a:xfrm>
            <a:off x="502920" y="548640"/>
            <a:ext cx="11155680" cy="640080"/>
          </a:xfrm>
          <a:prstGeom prst="rect">
            <a:avLst/>
          </a:prstGeom>
          <a:noFill/>
          <a:ln/>
        </p:spPr>
        <p:txBody>
          <a:bodyPr wrap="square" lIns="0" tIns="0" rIns="0" bIns="0" rtlCol="0" anchor="ctr"/>
          <a:lstStyle/>
          <a:p>
            <a:pPr indent="0" marL="0">
              <a:buNone/>
            </a:pPr>
            <a:r>
              <a:rPr lang="en-US" sz="3000" b="1" dirty="0">
                <a:solidFill>
                  <a:srgbClr val="182033"/>
                </a:solidFill>
                <a:latin typeface="Cambria" pitchFamily="34" charset="0"/>
                <a:ea typeface="Cambria" pitchFamily="34" charset="-122"/>
                <a:cs typeface="Cambria" pitchFamily="34" charset="-120"/>
              </a:rPr>
              <a:t>ColdSense-DQ: What It Does</a:t>
            </a:r>
            <a:endParaRPr lang="en-US" sz="3000" dirty="0"/>
          </a:p>
        </p:txBody>
      </p:sp>
      <p:sp>
        <p:nvSpPr>
          <p:cNvPr id="4" name="Text 2"/>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A data-quality-driven cold-chain intelligence platform for Sri Lankan retail SMEs</a:t>
            </a:r>
            <a:endParaRPr lang="en-US" sz="1400" dirty="0"/>
          </a:p>
        </p:txBody>
      </p:sp>
      <p:sp>
        <p:nvSpPr>
          <p:cNvPr id="5" name="Shape 3"/>
          <p:cNvSpPr/>
          <p:nvPr/>
        </p:nvSpPr>
        <p:spPr>
          <a:xfrm>
            <a:off x="502920" y="1965960"/>
            <a:ext cx="2286000" cy="1188720"/>
          </a:xfrm>
          <a:prstGeom prst="roundRect">
            <a:avLst>
              <a:gd name="adj" fmla="val 6154"/>
            </a:avLst>
          </a:prstGeom>
          <a:solidFill>
            <a:srgbClr val="F4F6F9"/>
          </a:solidFill>
          <a:ln w="15875">
            <a:solidFill>
              <a:srgbClr val="0B63B6"/>
            </a:solidFill>
            <a:prstDash val="solid"/>
          </a:ln>
        </p:spPr>
      </p:sp>
      <p:sp>
        <p:nvSpPr>
          <p:cNvPr id="6" name="Text 4"/>
          <p:cNvSpPr txBox="1"/>
          <p:nvPr/>
        </p:nvSpPr>
        <p:spPr>
          <a:xfrm>
            <a:off x="576072" y="2057400"/>
            <a:ext cx="2139696" cy="594360"/>
          </a:xfrm>
          <a:prstGeom prst="rect">
            <a:avLst/>
          </a:prstGeom>
          <a:noFill/>
          <a:ln/>
        </p:spPr>
        <p:txBody>
          <a:bodyPr wrap="square" lIns="0" tIns="0" rIns="0" bIns="0" rtlCol="0" anchor="ctr"/>
          <a:lstStyle/>
          <a:p>
            <a:pPr algn="ctr" indent="0" marL="0">
              <a:buNone/>
            </a:pPr>
            <a:r>
              <a:rPr lang="en-US" sz="1150" b="1" dirty="0">
                <a:solidFill>
                  <a:srgbClr val="182033"/>
                </a:solidFill>
                <a:latin typeface="Calibri" pitchFamily="34" charset="0"/>
                <a:ea typeface="Calibri" pitchFamily="34" charset="-122"/>
                <a:cs typeface="Calibri" pitchFamily="34" charset="-120"/>
              </a:rPr>
              <a:t>IoT + Retail</a:t>
            </a:r>
            <a:endParaRPr lang="en-US" sz="1150" dirty="0"/>
          </a:p>
          <a:p>
            <a:pPr algn="ctr" indent="0" marL="0">
              <a:buNone/>
            </a:pPr>
            <a:r>
              <a:rPr lang="en-US" sz="1150" b="1" dirty="0">
                <a:solidFill>
                  <a:srgbClr val="182033"/>
                </a:solidFill>
                <a:latin typeface="Calibri" pitchFamily="34" charset="0"/>
                <a:ea typeface="Calibri" pitchFamily="34" charset="-122"/>
                <a:cs typeface="Calibri" pitchFamily="34" charset="-120"/>
              </a:rPr>
              <a:t>Data</a:t>
            </a:r>
            <a:endParaRPr lang="en-US" sz="1150" dirty="0"/>
          </a:p>
        </p:txBody>
      </p:sp>
      <p:sp>
        <p:nvSpPr>
          <p:cNvPr id="7" name="Text 5"/>
          <p:cNvSpPr txBox="1"/>
          <p:nvPr/>
        </p:nvSpPr>
        <p:spPr>
          <a:xfrm>
            <a:off x="576072" y="2619756"/>
            <a:ext cx="2139696" cy="499262"/>
          </a:xfrm>
          <a:prstGeom prst="rect">
            <a:avLst/>
          </a:prstGeom>
          <a:noFill/>
          <a:ln/>
        </p:spPr>
        <p:txBody>
          <a:bodyPr wrap="square" lIns="0" tIns="0" rIns="0" bIns="0" rtlCol="0" anchor="ctr"/>
          <a:lstStyle/>
          <a:p>
            <a:pPr algn="ctr" indent="0" marL="0">
              <a:buNone/>
            </a:pPr>
            <a:r>
              <a:rPr lang="en-US" sz="1000" dirty="0">
                <a:solidFill>
                  <a:srgbClr val="0B63B6"/>
                </a:solidFill>
                <a:latin typeface="Calibri" pitchFamily="34" charset="0"/>
                <a:ea typeface="Calibri" pitchFamily="34" charset="-122"/>
                <a:cs typeface="Calibri" pitchFamily="34" charset="-120"/>
              </a:rPr>
              <a:t>Temperature, humidity</a:t>
            </a:r>
            <a:endParaRPr lang="en-US" sz="1000" dirty="0"/>
          </a:p>
          <a:p>
            <a:pPr algn="ctr" indent="0" marL="0">
              <a:buNone/>
            </a:pPr>
            <a:r>
              <a:rPr lang="en-US" sz="1000" dirty="0">
                <a:solidFill>
                  <a:srgbClr val="0B63B6"/>
                </a:solidFill>
                <a:latin typeface="Calibri" pitchFamily="34" charset="0"/>
                <a:ea typeface="Calibri" pitchFamily="34" charset="-122"/>
                <a:cs typeface="Calibri" pitchFamily="34" charset="-120"/>
              </a:rPr>
              <a:t>+ sales records</a:t>
            </a:r>
            <a:endParaRPr lang="en-US" sz="1000" dirty="0"/>
          </a:p>
        </p:txBody>
      </p:sp>
      <p:sp>
        <p:nvSpPr>
          <p:cNvPr id="8" name="Text 6"/>
          <p:cNvSpPr txBox="1"/>
          <p:nvPr/>
        </p:nvSpPr>
        <p:spPr>
          <a:xfrm>
            <a:off x="2788920" y="2322576"/>
            <a:ext cx="685800" cy="475488"/>
          </a:xfrm>
          <a:prstGeom prst="rect">
            <a:avLst/>
          </a:prstGeom>
          <a:noFill/>
          <a:ln/>
        </p:spPr>
        <p:txBody>
          <a:bodyPr wrap="square" lIns="0" tIns="0" rIns="0" bIns="0" rtlCol="0" anchor="ctr"/>
          <a:lstStyle/>
          <a:p>
            <a:pPr algn="ctr" indent="0" marL="0">
              <a:buNone/>
            </a:pPr>
            <a:r>
              <a:rPr lang="en-US" sz="1800" dirty="0">
                <a:solidFill>
                  <a:srgbClr val="5B6577"/>
                </a:solidFill>
                <a:latin typeface="Arial" pitchFamily="34" charset="0"/>
                <a:ea typeface="Arial" pitchFamily="34" charset="-122"/>
                <a:cs typeface="Arial" pitchFamily="34" charset="-120"/>
              </a:rPr>
              <a:t>→</a:t>
            </a:r>
            <a:endParaRPr lang="en-US" sz="1800" dirty="0"/>
          </a:p>
        </p:txBody>
      </p:sp>
      <p:sp>
        <p:nvSpPr>
          <p:cNvPr id="9" name="Shape 7"/>
          <p:cNvSpPr/>
          <p:nvPr/>
        </p:nvSpPr>
        <p:spPr>
          <a:xfrm>
            <a:off x="3474720" y="1965960"/>
            <a:ext cx="2286000" cy="1188720"/>
          </a:xfrm>
          <a:prstGeom prst="roundRect">
            <a:avLst>
              <a:gd name="adj" fmla="val 6154"/>
            </a:avLst>
          </a:prstGeom>
          <a:solidFill>
            <a:srgbClr val="F4F6F9"/>
          </a:solidFill>
          <a:ln w="15875">
            <a:solidFill>
              <a:srgbClr val="14743F"/>
            </a:solidFill>
            <a:prstDash val="solid"/>
          </a:ln>
        </p:spPr>
      </p:sp>
      <p:sp>
        <p:nvSpPr>
          <p:cNvPr id="10" name="Text 8"/>
          <p:cNvSpPr txBox="1"/>
          <p:nvPr/>
        </p:nvSpPr>
        <p:spPr>
          <a:xfrm>
            <a:off x="3547872" y="2057400"/>
            <a:ext cx="2139696" cy="594360"/>
          </a:xfrm>
          <a:prstGeom prst="rect">
            <a:avLst/>
          </a:prstGeom>
          <a:noFill/>
          <a:ln/>
        </p:spPr>
        <p:txBody>
          <a:bodyPr wrap="square" lIns="0" tIns="0" rIns="0" bIns="0" rtlCol="0" anchor="ctr"/>
          <a:lstStyle/>
          <a:p>
            <a:pPr algn="ctr" indent="0" marL="0">
              <a:buNone/>
            </a:pPr>
            <a:r>
              <a:rPr lang="en-US" sz="1150" b="1" dirty="0">
                <a:solidFill>
                  <a:srgbClr val="182033"/>
                </a:solidFill>
                <a:latin typeface="Calibri" pitchFamily="34" charset="0"/>
                <a:ea typeface="Calibri" pitchFamily="34" charset="-122"/>
                <a:cs typeface="Calibri" pitchFamily="34" charset="-120"/>
              </a:rPr>
              <a:t>Data Quality</a:t>
            </a:r>
            <a:endParaRPr lang="en-US" sz="1150" dirty="0"/>
          </a:p>
          <a:p>
            <a:pPr algn="ctr" indent="0" marL="0">
              <a:buNone/>
            </a:pPr>
            <a:r>
              <a:rPr lang="en-US" sz="1150" b="1" dirty="0">
                <a:solidFill>
                  <a:srgbClr val="182033"/>
                </a:solidFill>
                <a:latin typeface="Calibri" pitchFamily="34" charset="0"/>
                <a:ea typeface="Calibri" pitchFamily="34" charset="-122"/>
                <a:cs typeface="Calibri" pitchFamily="34" charset="-120"/>
              </a:rPr>
              <a:t>Layer</a:t>
            </a:r>
            <a:endParaRPr lang="en-US" sz="1150" dirty="0"/>
          </a:p>
        </p:txBody>
      </p:sp>
      <p:sp>
        <p:nvSpPr>
          <p:cNvPr id="11" name="Text 9"/>
          <p:cNvSpPr txBox="1"/>
          <p:nvPr/>
        </p:nvSpPr>
        <p:spPr>
          <a:xfrm>
            <a:off x="3547872" y="2619756"/>
            <a:ext cx="2139696" cy="499262"/>
          </a:xfrm>
          <a:prstGeom prst="rect">
            <a:avLst/>
          </a:prstGeom>
          <a:noFill/>
          <a:ln/>
        </p:spPr>
        <p:txBody>
          <a:bodyPr wrap="square" lIns="0" tIns="0" rIns="0" bIns="0" rtlCol="0" anchor="ctr"/>
          <a:lstStyle/>
          <a:p>
            <a:pPr algn="ctr" indent="0" marL="0">
              <a:buNone/>
            </a:pPr>
            <a:r>
              <a:rPr lang="en-US" sz="1000" dirty="0">
                <a:solidFill>
                  <a:srgbClr val="14743F"/>
                </a:solidFill>
                <a:latin typeface="Calibri" pitchFamily="34" charset="0"/>
                <a:ea typeface="Calibri" pitchFamily="34" charset="-122"/>
                <a:cs typeface="Calibri" pitchFamily="34" charset="-120"/>
              </a:rPr>
              <a:t>Is this reading</a:t>
            </a:r>
            <a:endParaRPr lang="en-US" sz="1000" dirty="0"/>
          </a:p>
          <a:p>
            <a:pPr algn="ctr" indent="0" marL="0">
              <a:buNone/>
            </a:pPr>
            <a:r>
              <a:rPr lang="en-US" sz="1000" dirty="0">
                <a:solidFill>
                  <a:srgbClr val="14743F"/>
                </a:solidFill>
                <a:latin typeface="Calibri" pitchFamily="34" charset="0"/>
                <a:ea typeface="Calibri" pitchFamily="34" charset="-122"/>
                <a:cs typeface="Calibri" pitchFamily="34" charset="-120"/>
              </a:rPr>
              <a:t>trustworthy?</a:t>
            </a:r>
            <a:endParaRPr lang="en-US" sz="1000" dirty="0"/>
          </a:p>
        </p:txBody>
      </p:sp>
      <p:sp>
        <p:nvSpPr>
          <p:cNvPr id="12" name="Text 10"/>
          <p:cNvSpPr txBox="1"/>
          <p:nvPr/>
        </p:nvSpPr>
        <p:spPr>
          <a:xfrm>
            <a:off x="5760720" y="2322576"/>
            <a:ext cx="685800" cy="475488"/>
          </a:xfrm>
          <a:prstGeom prst="rect">
            <a:avLst/>
          </a:prstGeom>
          <a:noFill/>
          <a:ln/>
        </p:spPr>
        <p:txBody>
          <a:bodyPr wrap="square" lIns="0" tIns="0" rIns="0" bIns="0" rtlCol="0" anchor="ctr"/>
          <a:lstStyle/>
          <a:p>
            <a:pPr algn="ctr" indent="0" marL="0">
              <a:buNone/>
            </a:pPr>
            <a:r>
              <a:rPr lang="en-US" sz="1800" dirty="0">
                <a:solidFill>
                  <a:srgbClr val="5B6577"/>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6446520" y="1965960"/>
            <a:ext cx="2286000" cy="1188720"/>
          </a:xfrm>
          <a:prstGeom prst="roundRect">
            <a:avLst>
              <a:gd name="adj" fmla="val 6154"/>
            </a:avLst>
          </a:prstGeom>
          <a:solidFill>
            <a:srgbClr val="F4F6F9"/>
          </a:solidFill>
          <a:ln w="15875">
            <a:solidFill>
              <a:srgbClr val="0B63B6"/>
            </a:solidFill>
            <a:prstDash val="solid"/>
          </a:ln>
        </p:spPr>
      </p:sp>
      <p:sp>
        <p:nvSpPr>
          <p:cNvPr id="14" name="Text 12"/>
          <p:cNvSpPr txBox="1"/>
          <p:nvPr/>
        </p:nvSpPr>
        <p:spPr>
          <a:xfrm>
            <a:off x="6519672" y="2057400"/>
            <a:ext cx="2139696" cy="594360"/>
          </a:xfrm>
          <a:prstGeom prst="rect">
            <a:avLst/>
          </a:prstGeom>
          <a:noFill/>
          <a:ln/>
        </p:spPr>
        <p:txBody>
          <a:bodyPr wrap="square" lIns="0" tIns="0" rIns="0" bIns="0" rtlCol="0" anchor="ctr"/>
          <a:lstStyle/>
          <a:p>
            <a:pPr algn="ctr" indent="0" marL="0">
              <a:buNone/>
            </a:pPr>
            <a:r>
              <a:rPr lang="en-US" sz="1150" b="1" dirty="0">
                <a:solidFill>
                  <a:srgbClr val="182033"/>
                </a:solidFill>
                <a:latin typeface="Calibri" pitchFamily="34" charset="0"/>
                <a:ea typeface="Calibri" pitchFamily="34" charset="-122"/>
                <a:cs typeface="Calibri" pitchFamily="34" charset="-120"/>
              </a:rPr>
              <a:t>Analytics &amp;</a:t>
            </a:r>
            <a:endParaRPr lang="en-US" sz="1150" dirty="0"/>
          </a:p>
          <a:p>
            <a:pPr algn="ctr" indent="0" marL="0">
              <a:buNone/>
            </a:pPr>
            <a:r>
              <a:rPr lang="en-US" sz="1150" b="1" dirty="0">
                <a:solidFill>
                  <a:srgbClr val="182033"/>
                </a:solidFill>
                <a:latin typeface="Calibri" pitchFamily="34" charset="0"/>
                <a:ea typeface="Calibri" pitchFamily="34" charset="-122"/>
                <a:cs typeface="Calibri" pitchFamily="34" charset="-120"/>
              </a:rPr>
              <a:t>Risk Scoring</a:t>
            </a:r>
            <a:endParaRPr lang="en-US" sz="1150" dirty="0"/>
          </a:p>
        </p:txBody>
      </p:sp>
      <p:sp>
        <p:nvSpPr>
          <p:cNvPr id="15" name="Text 13"/>
          <p:cNvSpPr txBox="1"/>
          <p:nvPr/>
        </p:nvSpPr>
        <p:spPr>
          <a:xfrm>
            <a:off x="6519672" y="2619756"/>
            <a:ext cx="2139696" cy="499262"/>
          </a:xfrm>
          <a:prstGeom prst="rect">
            <a:avLst/>
          </a:prstGeom>
          <a:noFill/>
          <a:ln/>
        </p:spPr>
        <p:txBody>
          <a:bodyPr wrap="square" lIns="0" tIns="0" rIns="0" bIns="0" rtlCol="0" anchor="ctr"/>
          <a:lstStyle/>
          <a:p>
            <a:pPr algn="ctr" indent="0" marL="0">
              <a:buNone/>
            </a:pPr>
            <a:r>
              <a:rPr lang="en-US" sz="1000" dirty="0">
                <a:solidFill>
                  <a:srgbClr val="0B63B6"/>
                </a:solidFill>
                <a:latin typeface="Calibri" pitchFamily="34" charset="0"/>
                <a:ea typeface="Calibri" pitchFamily="34" charset="-122"/>
                <a:cs typeface="Calibri" pitchFamily="34" charset="-120"/>
              </a:rPr>
              <a:t>Anomalies, forecasts,</a:t>
            </a:r>
            <a:endParaRPr lang="en-US" sz="1000" dirty="0"/>
          </a:p>
          <a:p>
            <a:pPr algn="ctr" indent="0" marL="0">
              <a:buNone/>
            </a:pPr>
            <a:r>
              <a:rPr lang="en-US" sz="1000" dirty="0">
                <a:solidFill>
                  <a:srgbClr val="0B63B6"/>
                </a:solidFill>
                <a:latin typeface="Calibri" pitchFamily="34" charset="0"/>
                <a:ea typeface="Calibri" pitchFamily="34" charset="-122"/>
                <a:cs typeface="Calibri" pitchFamily="34" charset="-120"/>
              </a:rPr>
              <a:t>spoilage risk</a:t>
            </a:r>
            <a:endParaRPr lang="en-US" sz="1000" dirty="0"/>
          </a:p>
        </p:txBody>
      </p:sp>
      <p:sp>
        <p:nvSpPr>
          <p:cNvPr id="16" name="Text 14"/>
          <p:cNvSpPr txBox="1"/>
          <p:nvPr/>
        </p:nvSpPr>
        <p:spPr>
          <a:xfrm>
            <a:off x="8732520" y="2322576"/>
            <a:ext cx="685800" cy="475488"/>
          </a:xfrm>
          <a:prstGeom prst="rect">
            <a:avLst/>
          </a:prstGeom>
          <a:noFill/>
          <a:ln/>
        </p:spPr>
        <p:txBody>
          <a:bodyPr wrap="square" lIns="0" tIns="0" rIns="0" bIns="0" rtlCol="0" anchor="ctr"/>
          <a:lstStyle/>
          <a:p>
            <a:pPr algn="ctr" indent="0" marL="0">
              <a:buNone/>
            </a:pPr>
            <a:r>
              <a:rPr lang="en-US" sz="1800" dirty="0">
                <a:solidFill>
                  <a:srgbClr val="5B6577"/>
                </a:solidFill>
                <a:latin typeface="Arial" pitchFamily="34" charset="0"/>
                <a:ea typeface="Arial" pitchFamily="34" charset="-122"/>
                <a:cs typeface="Arial" pitchFamily="34" charset="-120"/>
              </a:rPr>
              <a:t>→</a:t>
            </a:r>
            <a:endParaRPr lang="en-US" sz="1800" dirty="0"/>
          </a:p>
        </p:txBody>
      </p:sp>
      <p:sp>
        <p:nvSpPr>
          <p:cNvPr id="17" name="Shape 15"/>
          <p:cNvSpPr/>
          <p:nvPr/>
        </p:nvSpPr>
        <p:spPr>
          <a:xfrm>
            <a:off x="9418320" y="1965960"/>
            <a:ext cx="2286000" cy="1188720"/>
          </a:xfrm>
          <a:prstGeom prst="roundRect">
            <a:avLst>
              <a:gd name="adj" fmla="val 6154"/>
            </a:avLst>
          </a:prstGeom>
          <a:solidFill>
            <a:srgbClr val="F4F6F9"/>
          </a:solidFill>
          <a:ln w="15875">
            <a:solidFill>
              <a:srgbClr val="14743F"/>
            </a:solidFill>
            <a:prstDash val="solid"/>
          </a:ln>
        </p:spPr>
      </p:sp>
      <p:sp>
        <p:nvSpPr>
          <p:cNvPr id="18" name="Text 16"/>
          <p:cNvSpPr txBox="1"/>
          <p:nvPr/>
        </p:nvSpPr>
        <p:spPr>
          <a:xfrm>
            <a:off x="9491472" y="2057400"/>
            <a:ext cx="2139696" cy="594360"/>
          </a:xfrm>
          <a:prstGeom prst="rect">
            <a:avLst/>
          </a:prstGeom>
          <a:noFill/>
          <a:ln/>
        </p:spPr>
        <p:txBody>
          <a:bodyPr wrap="square" lIns="0" tIns="0" rIns="0" bIns="0" rtlCol="0" anchor="ctr"/>
          <a:lstStyle/>
          <a:p>
            <a:pPr algn="ctr" indent="0" marL="0">
              <a:buNone/>
            </a:pPr>
            <a:r>
              <a:rPr lang="en-US" sz="1150" b="1" dirty="0">
                <a:solidFill>
                  <a:srgbClr val="182033"/>
                </a:solidFill>
                <a:latin typeface="Calibri" pitchFamily="34" charset="0"/>
                <a:ea typeface="Calibri" pitchFamily="34" charset="-122"/>
                <a:cs typeface="Calibri" pitchFamily="34" charset="-120"/>
              </a:rPr>
              <a:t>Dashboard &amp;</a:t>
            </a:r>
            <a:endParaRPr lang="en-US" sz="1150" dirty="0"/>
          </a:p>
          <a:p>
            <a:pPr algn="ctr" indent="0" marL="0">
              <a:buNone/>
            </a:pPr>
            <a:r>
              <a:rPr lang="en-US" sz="1150" b="1" dirty="0">
                <a:solidFill>
                  <a:srgbClr val="182033"/>
                </a:solidFill>
                <a:latin typeface="Calibri" pitchFamily="34" charset="0"/>
                <a:ea typeface="Calibri" pitchFamily="34" charset="-122"/>
                <a:cs typeface="Calibri" pitchFamily="34" charset="-120"/>
              </a:rPr>
              <a:t>Alerts</a:t>
            </a:r>
            <a:endParaRPr lang="en-US" sz="1150" dirty="0"/>
          </a:p>
        </p:txBody>
      </p:sp>
      <p:sp>
        <p:nvSpPr>
          <p:cNvPr id="19" name="Text 17"/>
          <p:cNvSpPr txBox="1"/>
          <p:nvPr/>
        </p:nvSpPr>
        <p:spPr>
          <a:xfrm>
            <a:off x="9491472" y="2619756"/>
            <a:ext cx="2139696" cy="499262"/>
          </a:xfrm>
          <a:prstGeom prst="rect">
            <a:avLst/>
          </a:prstGeom>
          <a:noFill/>
          <a:ln/>
        </p:spPr>
        <p:txBody>
          <a:bodyPr wrap="square" lIns="0" tIns="0" rIns="0" bIns="0" rtlCol="0" anchor="ctr"/>
          <a:lstStyle/>
          <a:p>
            <a:pPr algn="ctr" indent="0" marL="0">
              <a:buNone/>
            </a:pPr>
            <a:r>
              <a:rPr lang="en-US" sz="1000" dirty="0">
                <a:solidFill>
                  <a:srgbClr val="14743F"/>
                </a:solidFill>
                <a:latin typeface="Calibri" pitchFamily="34" charset="0"/>
                <a:ea typeface="Calibri" pitchFamily="34" charset="-122"/>
                <a:cs typeface="Calibri" pitchFamily="34" charset="-120"/>
              </a:rPr>
              <a:t>Decisions on</a:t>
            </a:r>
            <a:endParaRPr lang="en-US" sz="1000" dirty="0"/>
          </a:p>
          <a:p>
            <a:pPr algn="ctr" indent="0" marL="0">
              <a:buNone/>
            </a:pPr>
            <a:r>
              <a:rPr lang="en-US" sz="1000" dirty="0">
                <a:solidFill>
                  <a:srgbClr val="14743F"/>
                </a:solidFill>
                <a:latin typeface="Calibri" pitchFamily="34" charset="0"/>
                <a:ea typeface="Calibri" pitchFamily="34" charset="-122"/>
                <a:cs typeface="Calibri" pitchFamily="34" charset="-120"/>
              </a:rPr>
              <a:t>verified data</a:t>
            </a:r>
            <a:endParaRPr lang="en-US" sz="1000" dirty="0"/>
          </a:p>
        </p:txBody>
      </p:sp>
      <p:sp>
        <p:nvSpPr>
          <p:cNvPr id="20" name="Text 18"/>
          <p:cNvSpPr txBox="1"/>
          <p:nvPr/>
        </p:nvSpPr>
        <p:spPr>
          <a:xfrm>
            <a:off x="685800" y="3749040"/>
            <a:ext cx="10789920" cy="2468880"/>
          </a:xfrm>
          <a:prstGeom prst="rect">
            <a:avLst/>
          </a:prstGeom>
          <a:noFill/>
          <a:ln/>
        </p:spPr>
        <p:txBody>
          <a:bodyPr wrap="square" lIns="0" tIns="0" rIns="0" bIns="0" rtlCol="0" anchor="ctr"/>
          <a:lstStyle/>
          <a:p>
            <a:pPr marL="342900" indent="-342900">
              <a:spcAft>
                <a:spcPts val="1400"/>
              </a:spcAft>
              <a:buSzPct val="100000"/>
              <a:buChar char="▪"/>
            </a:pPr>
            <a:r>
              <a:rPr lang="en-US" sz="1400" dirty="0">
                <a:solidFill>
                  <a:srgbClr val="0B63B6"/>
                </a:solidFill>
                <a:latin typeface="Calibri" pitchFamily="34" charset="0"/>
                <a:ea typeface="Calibri" pitchFamily="34" charset="-122"/>
                <a:cs typeface="Calibri" pitchFamily="34" charset="-120"/>
              </a:rPr>
              <a:t>Most monitoring systems alert on raw sensor readings directly — ColdSense-DQ scores whether the reading can be trusted first</a:t>
            </a:r>
            <a:endParaRPr lang="en-US" sz="1400" dirty="0"/>
          </a:p>
          <a:p>
            <a:pPr marL="342900" indent="-342900">
              <a:spcAft>
                <a:spcPts val="1400"/>
              </a:spcAft>
              <a:buSzPct val="100000"/>
              <a:buChar char="▪"/>
            </a:pPr>
            <a:r>
              <a:rPr lang="en-US" sz="1400" dirty="0">
                <a:solidFill>
                  <a:srgbClr val="0B63B6"/>
                </a:solidFill>
                <a:latin typeface="Calibri" pitchFamily="34" charset="0"/>
                <a:ea typeface="Calibri" pitchFamily="34" charset="-122"/>
                <a:cs typeface="Calibri" pitchFamily="34" charset="-120"/>
              </a:rPr>
              <a:t>Connects environmental conditions to real business outcomes: not just “too warm”, but an estimated revenue figure at risk</a:t>
            </a:r>
            <a:endParaRPr lang="en-US" sz="1400" dirty="0"/>
          </a:p>
          <a:p>
            <a:pPr marL="342900" indent="-342900">
              <a:spcAft>
                <a:spcPts val="1400"/>
              </a:spcAft>
              <a:buSzPct val="100000"/>
              <a:buChar char="▪"/>
            </a:pPr>
            <a:r>
              <a:rPr lang="en-US" sz="1400" dirty="0">
                <a:solidFill>
                  <a:srgbClr val="0B63B6"/>
                </a:solidFill>
                <a:latin typeface="Calibri" pitchFamily="34" charset="0"/>
                <a:ea typeface="Calibri" pitchFamily="34" charset="-122"/>
                <a:cs typeface="Calibri" pitchFamily="34" charset="-120"/>
              </a:rPr>
              <a:t>Built for SMEs that can't afford a large enterprise system — affordable and scalable, demonstrated today on real cold-chain reference data</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8229600" cy="274320"/>
          </a:xfrm>
          <a:prstGeom prst="rect">
            <a:avLst/>
          </a:prstGeom>
          <a:noFill/>
          <a:ln/>
        </p:spPr>
        <p:txBody>
          <a:bodyPr wrap="square" rtlCol="0" anchor="ctr"/>
          <a:lstStyle/>
          <a:p>
            <a:pPr indent="0" marL="0">
              <a:buNone/>
            </a:pPr>
            <a:r>
              <a:rPr lang="en-US" sz="1200" b="1" spc="200" kern="0" dirty="0">
                <a:solidFill>
                  <a:srgbClr val="0B63B6"/>
                </a:solidFill>
                <a:latin typeface="Calibri" pitchFamily="34" charset="0"/>
                <a:ea typeface="Calibri" pitchFamily="34" charset="-122"/>
                <a:cs typeface="Calibri" pitchFamily="34" charset="-120"/>
              </a:rPr>
              <a:t>BACKGROUND</a:t>
            </a:r>
            <a:endParaRPr lang="en-US" sz="1200" dirty="0"/>
          </a:p>
        </p:txBody>
      </p:sp>
      <p:sp>
        <p:nvSpPr>
          <p:cNvPr id="3" name="Text 1"/>
          <p:cNvSpPr txBox="1"/>
          <p:nvPr/>
        </p:nvSpPr>
        <p:spPr>
          <a:xfrm>
            <a:off x="502920" y="548640"/>
            <a:ext cx="11155680" cy="640080"/>
          </a:xfrm>
          <a:prstGeom prst="rect">
            <a:avLst/>
          </a:prstGeom>
          <a:noFill/>
          <a:ln/>
        </p:spPr>
        <p:txBody>
          <a:bodyPr wrap="square" lIns="0" tIns="0" rIns="0" bIns="0" rtlCol="0" anchor="ctr"/>
          <a:lstStyle/>
          <a:p>
            <a:pPr indent="0" marL="0">
              <a:buNone/>
            </a:pPr>
            <a:r>
              <a:rPr lang="en-US" sz="3000" b="1" dirty="0">
                <a:solidFill>
                  <a:srgbClr val="182033"/>
                </a:solidFill>
                <a:latin typeface="Cambria" pitchFamily="34" charset="0"/>
                <a:ea typeface="Cambria" pitchFamily="34" charset="-122"/>
                <a:cs typeface="Cambria" pitchFamily="34" charset="-120"/>
              </a:rPr>
              <a:t>The Problem: Data Nobody Verifies</a:t>
            </a:r>
            <a:endParaRPr lang="en-US" sz="3000" dirty="0"/>
          </a:p>
        </p:txBody>
      </p:sp>
      <p:sp>
        <p:nvSpPr>
          <p:cNvPr id="4" name="Shape 2"/>
          <p:cNvSpPr/>
          <p:nvPr/>
        </p:nvSpPr>
        <p:spPr>
          <a:xfrm>
            <a:off x="502920" y="2011680"/>
            <a:ext cx="3520440" cy="3108960"/>
          </a:xfrm>
          <a:prstGeom prst="roundRect">
            <a:avLst>
              <a:gd name="adj" fmla="val 2353"/>
            </a:avLst>
          </a:prstGeom>
          <a:solidFill>
            <a:srgbClr val="F4F6F9"/>
          </a:solidFill>
          <a:ln w="9525">
            <a:solidFill>
              <a:srgbClr val="DDE3EC"/>
            </a:solidFill>
            <a:prstDash val="solid"/>
          </a:ln>
        </p:spPr>
      </p:sp>
      <p:sp>
        <p:nvSpPr>
          <p:cNvPr id="5" name="Shape 3"/>
          <p:cNvSpPr/>
          <p:nvPr/>
        </p:nvSpPr>
        <p:spPr>
          <a:xfrm>
            <a:off x="777240" y="2286000"/>
            <a:ext cx="502920" cy="502920"/>
          </a:xfrm>
          <a:prstGeom prst="ellipse">
            <a:avLst/>
          </a:prstGeom>
          <a:solidFill>
            <a:srgbClr val="B3261E"/>
          </a:solidFill>
          <a:ln/>
        </p:spPr>
      </p:sp>
      <p:sp>
        <p:nvSpPr>
          <p:cNvPr id="6" name="Text 4"/>
          <p:cNvSpPr txBox="1"/>
          <p:nvPr/>
        </p:nvSpPr>
        <p:spPr>
          <a:xfrm>
            <a:off x="777240" y="22860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777240" y="2971800"/>
            <a:ext cx="2971800" cy="914400"/>
          </a:xfrm>
          <a:prstGeom prst="rect">
            <a:avLst/>
          </a:prstGeom>
          <a:noFill/>
          <a:ln/>
        </p:spPr>
        <p:txBody>
          <a:bodyPr wrap="square" lIns="0" tIns="0" rIns="0" bIns="0" rtlCol="0" anchor="ctr"/>
          <a:lstStyle/>
          <a:p>
            <a:pPr indent="0" marL="0">
              <a:lnSpc>
                <a:spcPct val="110000"/>
              </a:lnSpc>
              <a:buNone/>
            </a:pPr>
            <a:r>
              <a:rPr lang="en-US" sz="1500" b="1" dirty="0">
                <a:solidFill>
                  <a:srgbClr val="182033"/>
                </a:solidFill>
                <a:latin typeface="Cambria" pitchFamily="34" charset="0"/>
                <a:ea typeface="Cambria" pitchFamily="34" charset="-122"/>
                <a:cs typeface="Cambria" pitchFamily="34" charset="-120"/>
              </a:rPr>
              <a:t>Sensors exist, but nobody checks if they're lying</a:t>
            </a:r>
            <a:endParaRPr lang="en-US" sz="1500" dirty="0"/>
          </a:p>
        </p:txBody>
      </p:sp>
      <p:sp>
        <p:nvSpPr>
          <p:cNvPr id="8" name="Text 6"/>
          <p:cNvSpPr txBox="1"/>
          <p:nvPr/>
        </p:nvSpPr>
        <p:spPr>
          <a:xfrm>
            <a:off x="777240" y="3886200"/>
            <a:ext cx="2971800" cy="1005840"/>
          </a:xfrm>
          <a:prstGeom prst="rect">
            <a:avLst/>
          </a:prstGeom>
          <a:noFill/>
          <a:ln/>
        </p:spPr>
        <p:txBody>
          <a:bodyPr wrap="square" lIns="0" tIns="0" rIns="0" bIns="0" rtlCol="0" anchor="ctr"/>
          <a:lstStyle/>
          <a:p>
            <a:pPr indent="0" marL="0">
              <a:lnSpc>
                <a:spcPct val="120000"/>
              </a:lnSpc>
              <a:buNone/>
            </a:pPr>
            <a:r>
              <a:rPr lang="en-US" sz="1200" dirty="0">
                <a:solidFill>
                  <a:srgbClr val="5B6577"/>
                </a:solidFill>
                <a:latin typeface="Calibri" pitchFamily="34" charset="0"/>
                <a:ea typeface="Calibri" pitchFamily="34" charset="-122"/>
                <a:cs typeface="Calibri" pitchFamily="34" charset="-120"/>
              </a:rPr>
              <a:t>Calibration drift, missing readings, and network dropouts go unnoticed — the sensor keeps reporting, just not accurately.</a:t>
            </a:r>
            <a:endParaRPr lang="en-US" sz="1200" dirty="0"/>
          </a:p>
        </p:txBody>
      </p:sp>
      <p:sp>
        <p:nvSpPr>
          <p:cNvPr id="9" name="Shape 7"/>
          <p:cNvSpPr/>
          <p:nvPr/>
        </p:nvSpPr>
        <p:spPr>
          <a:xfrm>
            <a:off x="4343400" y="2011680"/>
            <a:ext cx="3520440" cy="3108960"/>
          </a:xfrm>
          <a:prstGeom prst="roundRect">
            <a:avLst>
              <a:gd name="adj" fmla="val 2353"/>
            </a:avLst>
          </a:prstGeom>
          <a:solidFill>
            <a:srgbClr val="F4F6F9"/>
          </a:solidFill>
          <a:ln w="9525">
            <a:solidFill>
              <a:srgbClr val="DDE3EC"/>
            </a:solidFill>
            <a:prstDash val="solid"/>
          </a:ln>
        </p:spPr>
      </p:sp>
      <p:sp>
        <p:nvSpPr>
          <p:cNvPr id="10" name="Shape 8"/>
          <p:cNvSpPr/>
          <p:nvPr/>
        </p:nvSpPr>
        <p:spPr>
          <a:xfrm>
            <a:off x="4617720" y="2286000"/>
            <a:ext cx="502920" cy="502920"/>
          </a:xfrm>
          <a:prstGeom prst="ellipse">
            <a:avLst/>
          </a:prstGeom>
          <a:solidFill>
            <a:srgbClr val="D99A0B"/>
          </a:solidFill>
          <a:ln/>
        </p:spPr>
      </p:sp>
      <p:sp>
        <p:nvSpPr>
          <p:cNvPr id="11" name="Text 9"/>
          <p:cNvSpPr txBox="1"/>
          <p:nvPr/>
        </p:nvSpPr>
        <p:spPr>
          <a:xfrm>
            <a:off x="4617720" y="22860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4617720" y="2971800"/>
            <a:ext cx="2971800" cy="914400"/>
          </a:xfrm>
          <a:prstGeom prst="rect">
            <a:avLst/>
          </a:prstGeom>
          <a:noFill/>
          <a:ln/>
        </p:spPr>
        <p:txBody>
          <a:bodyPr wrap="square" lIns="0" tIns="0" rIns="0" bIns="0" rtlCol="0" anchor="ctr"/>
          <a:lstStyle/>
          <a:p>
            <a:pPr indent="0" marL="0">
              <a:lnSpc>
                <a:spcPct val="110000"/>
              </a:lnSpc>
              <a:buNone/>
            </a:pPr>
            <a:r>
              <a:rPr lang="en-US" sz="1500" b="1" dirty="0">
                <a:solidFill>
                  <a:srgbClr val="182033"/>
                </a:solidFill>
                <a:latin typeface="Cambria" pitchFamily="34" charset="0"/>
                <a:ea typeface="Cambria" pitchFamily="34" charset="-122"/>
                <a:cs typeface="Cambria" pitchFamily="34" charset="-120"/>
              </a:rPr>
              <a:t>Environmental and business data live apart</a:t>
            </a:r>
            <a:endParaRPr lang="en-US" sz="1500" dirty="0"/>
          </a:p>
        </p:txBody>
      </p:sp>
      <p:sp>
        <p:nvSpPr>
          <p:cNvPr id="13" name="Text 11"/>
          <p:cNvSpPr txBox="1"/>
          <p:nvPr/>
        </p:nvSpPr>
        <p:spPr>
          <a:xfrm>
            <a:off x="4617720" y="3886200"/>
            <a:ext cx="2971800" cy="1005840"/>
          </a:xfrm>
          <a:prstGeom prst="rect">
            <a:avLst/>
          </a:prstGeom>
          <a:noFill/>
          <a:ln/>
        </p:spPr>
        <p:txBody>
          <a:bodyPr wrap="square" lIns="0" tIns="0" rIns="0" bIns="0" rtlCol="0" anchor="ctr"/>
          <a:lstStyle/>
          <a:p>
            <a:pPr indent="0" marL="0">
              <a:lnSpc>
                <a:spcPct val="120000"/>
              </a:lnSpc>
              <a:buNone/>
            </a:pPr>
            <a:r>
              <a:rPr lang="en-US" sz="1200" dirty="0">
                <a:solidFill>
                  <a:srgbClr val="5B6577"/>
                </a:solidFill>
                <a:latin typeface="Calibri" pitchFamily="34" charset="0"/>
                <a:ea typeface="Calibri" pitchFamily="34" charset="-122"/>
                <a:cs typeface="Calibri" pitchFamily="34" charset="-120"/>
              </a:rPr>
              <a:t>Temperature/humidity readings and sales records sit in separate systems — Excel files, POS systems, sensor logs — with no link between them.</a:t>
            </a:r>
            <a:endParaRPr lang="en-US" sz="1200" dirty="0"/>
          </a:p>
        </p:txBody>
      </p:sp>
      <p:sp>
        <p:nvSpPr>
          <p:cNvPr id="14" name="Shape 12"/>
          <p:cNvSpPr/>
          <p:nvPr/>
        </p:nvSpPr>
        <p:spPr>
          <a:xfrm>
            <a:off x="8183880" y="2011680"/>
            <a:ext cx="3520440" cy="3108960"/>
          </a:xfrm>
          <a:prstGeom prst="roundRect">
            <a:avLst>
              <a:gd name="adj" fmla="val 2353"/>
            </a:avLst>
          </a:prstGeom>
          <a:solidFill>
            <a:srgbClr val="F4F6F9"/>
          </a:solidFill>
          <a:ln w="9525">
            <a:solidFill>
              <a:srgbClr val="DDE3EC"/>
            </a:solidFill>
            <a:prstDash val="solid"/>
          </a:ln>
        </p:spPr>
      </p:sp>
      <p:sp>
        <p:nvSpPr>
          <p:cNvPr id="15" name="Shape 13"/>
          <p:cNvSpPr/>
          <p:nvPr/>
        </p:nvSpPr>
        <p:spPr>
          <a:xfrm>
            <a:off x="8458200" y="2286000"/>
            <a:ext cx="502920" cy="502920"/>
          </a:xfrm>
          <a:prstGeom prst="ellipse">
            <a:avLst/>
          </a:prstGeom>
          <a:solidFill>
            <a:srgbClr val="0B63B6"/>
          </a:solidFill>
          <a:ln/>
        </p:spPr>
      </p:sp>
      <p:sp>
        <p:nvSpPr>
          <p:cNvPr id="16" name="Text 14"/>
          <p:cNvSpPr txBox="1"/>
          <p:nvPr/>
        </p:nvSpPr>
        <p:spPr>
          <a:xfrm>
            <a:off x="8458200" y="22860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8458200" y="2971800"/>
            <a:ext cx="2971800" cy="914400"/>
          </a:xfrm>
          <a:prstGeom prst="rect">
            <a:avLst/>
          </a:prstGeom>
          <a:noFill/>
          <a:ln/>
        </p:spPr>
        <p:txBody>
          <a:bodyPr wrap="square" lIns="0" tIns="0" rIns="0" bIns="0" rtlCol="0" anchor="ctr"/>
          <a:lstStyle/>
          <a:p>
            <a:pPr indent="0" marL="0">
              <a:lnSpc>
                <a:spcPct val="110000"/>
              </a:lnSpc>
              <a:buNone/>
            </a:pPr>
            <a:r>
              <a:rPr lang="en-US" sz="1500" b="1" dirty="0">
                <a:solidFill>
                  <a:srgbClr val="182033"/>
                </a:solidFill>
                <a:latin typeface="Cambria" pitchFamily="34" charset="0"/>
                <a:ea typeface="Cambria" pitchFamily="34" charset="-122"/>
                <a:cs typeface="Cambria" pitchFamily="34" charset="-120"/>
              </a:rPr>
              <a:t>Problems surface only after the damage is done</a:t>
            </a:r>
            <a:endParaRPr lang="en-US" sz="1500" dirty="0"/>
          </a:p>
        </p:txBody>
      </p:sp>
      <p:sp>
        <p:nvSpPr>
          <p:cNvPr id="18" name="Text 16"/>
          <p:cNvSpPr txBox="1"/>
          <p:nvPr/>
        </p:nvSpPr>
        <p:spPr>
          <a:xfrm>
            <a:off x="8458200" y="3886200"/>
            <a:ext cx="2971800" cy="1005840"/>
          </a:xfrm>
          <a:prstGeom prst="rect">
            <a:avLst/>
          </a:prstGeom>
          <a:noFill/>
          <a:ln/>
        </p:spPr>
        <p:txBody>
          <a:bodyPr wrap="square" lIns="0" tIns="0" rIns="0" bIns="0" rtlCol="0" anchor="ctr"/>
          <a:lstStyle/>
          <a:p>
            <a:pPr indent="0" marL="0">
              <a:lnSpc>
                <a:spcPct val="120000"/>
              </a:lnSpc>
              <a:buNone/>
            </a:pPr>
            <a:r>
              <a:rPr lang="en-US" sz="1200" dirty="0">
                <a:solidFill>
                  <a:srgbClr val="5B6577"/>
                </a:solidFill>
                <a:latin typeface="Calibri" pitchFamily="34" charset="0"/>
                <a:ea typeface="Calibri" pitchFamily="34" charset="-122"/>
                <a:cs typeface="Calibri" pitchFamily="34" charset="-120"/>
              </a:rPr>
              <a:t>Existing systems alert on simple thresholds only, after the fact. No early warning, and no estimate of what it actually costs the business.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8229600" cy="274320"/>
          </a:xfrm>
          <a:prstGeom prst="rect">
            <a:avLst/>
          </a:prstGeom>
          <a:noFill/>
          <a:ln/>
        </p:spPr>
        <p:txBody>
          <a:bodyPr wrap="square" rtlCol="0" anchor="ctr"/>
          <a:lstStyle/>
          <a:p>
            <a:pPr indent="0" marL="0">
              <a:buNone/>
            </a:pPr>
            <a:r>
              <a:rPr lang="en-US" sz="1200" b="1" spc="200" kern="0" dirty="0">
                <a:solidFill>
                  <a:srgbClr val="0B63B6"/>
                </a:solidFill>
                <a:latin typeface="Calibri" pitchFamily="34" charset="0"/>
                <a:ea typeface="Calibri" pitchFamily="34" charset="-122"/>
                <a:cs typeface="Calibri" pitchFamily="34" charset="-120"/>
              </a:rPr>
              <a:t>IS THIS PROBLEM REAL?</a:t>
            </a:r>
            <a:endParaRPr lang="en-US" sz="1200" dirty="0"/>
          </a:p>
        </p:txBody>
      </p:sp>
      <p:sp>
        <p:nvSpPr>
          <p:cNvPr id="3" name="Text 1"/>
          <p:cNvSpPr txBox="1"/>
          <p:nvPr/>
        </p:nvSpPr>
        <p:spPr>
          <a:xfrm>
            <a:off x="502920" y="548640"/>
            <a:ext cx="11155680" cy="640080"/>
          </a:xfrm>
          <a:prstGeom prst="rect">
            <a:avLst/>
          </a:prstGeom>
          <a:noFill/>
          <a:ln/>
        </p:spPr>
        <p:txBody>
          <a:bodyPr wrap="square" lIns="0" tIns="0" rIns="0" bIns="0" rtlCol="0" anchor="ctr"/>
          <a:lstStyle/>
          <a:p>
            <a:pPr indent="0" marL="0">
              <a:buNone/>
            </a:pPr>
            <a:r>
              <a:rPr lang="en-US" sz="3000" b="1" dirty="0">
                <a:solidFill>
                  <a:srgbClr val="182033"/>
                </a:solidFill>
                <a:latin typeface="Cambria" pitchFamily="34" charset="0"/>
                <a:ea typeface="Cambria" pitchFamily="34" charset="-122"/>
                <a:cs typeface="Cambria" pitchFamily="34" charset="-120"/>
              </a:rPr>
              <a:t>Grounding the Problem — Industry &amp; Academic Evidence</a:t>
            </a:r>
            <a:endParaRPr lang="en-US" sz="3000" dirty="0"/>
          </a:p>
        </p:txBody>
      </p:sp>
      <p:sp>
        <p:nvSpPr>
          <p:cNvPr id="4" name="Text 2"/>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Independently published findings on cold-chain failures and IoT sensor data quality</a:t>
            </a:r>
            <a:endParaRPr lang="en-US" sz="1400" dirty="0"/>
          </a:p>
        </p:txBody>
      </p:sp>
      <p:sp>
        <p:nvSpPr>
          <p:cNvPr id="5" name="Shape 3"/>
          <p:cNvSpPr/>
          <p:nvPr/>
        </p:nvSpPr>
        <p:spPr>
          <a:xfrm>
            <a:off x="502920" y="1828800"/>
            <a:ext cx="2594610" cy="1965960"/>
          </a:xfrm>
          <a:prstGeom prst="roundRect">
            <a:avLst>
              <a:gd name="adj" fmla="val 3721"/>
            </a:avLst>
          </a:prstGeom>
          <a:solidFill>
            <a:srgbClr val="F4F6F9"/>
          </a:solidFill>
          <a:ln w="9525">
            <a:solidFill>
              <a:srgbClr val="DDE3EC"/>
            </a:solidFill>
            <a:prstDash val="solid"/>
          </a:ln>
          <a:effectLst>
            <a:outerShdw sx="100000" sy="100000" kx="0" ky="0" algn="bl" rotWithShape="0" blurRad="76200" dist="25400" dir="5400000">
              <a:srgbClr val="182033">
                <a:alpha val="12000"/>
              </a:srgbClr>
            </a:outerShdw>
          </a:effectLst>
        </p:spPr>
      </p:sp>
      <p:sp>
        <p:nvSpPr>
          <p:cNvPr id="6" name="Text 4"/>
          <p:cNvSpPr txBox="1"/>
          <p:nvPr/>
        </p:nvSpPr>
        <p:spPr>
          <a:xfrm>
            <a:off x="640080" y="1993392"/>
            <a:ext cx="2320290" cy="1081278"/>
          </a:xfrm>
          <a:prstGeom prst="rect">
            <a:avLst/>
          </a:prstGeom>
          <a:noFill/>
          <a:ln/>
        </p:spPr>
        <p:txBody>
          <a:bodyPr wrap="square" lIns="0" tIns="0" rIns="0" bIns="0" rtlCol="0" anchor="ctr"/>
          <a:lstStyle/>
          <a:p>
            <a:pPr algn="l" indent="0" marL="0">
              <a:buNone/>
            </a:pPr>
            <a:r>
              <a:rPr lang="en-US" sz="3000" b="1" dirty="0">
                <a:solidFill>
                  <a:srgbClr val="B3261E"/>
                </a:solidFill>
                <a:latin typeface="Cambria" pitchFamily="34" charset="0"/>
                <a:ea typeface="Cambria" pitchFamily="34" charset="-122"/>
                <a:cs typeface="Cambria" pitchFamily="34" charset="-120"/>
              </a:rPr>
              <a:t>70–85%</a:t>
            </a:r>
            <a:endParaRPr lang="en-US" sz="3000" dirty="0"/>
          </a:p>
        </p:txBody>
      </p:sp>
      <p:sp>
        <p:nvSpPr>
          <p:cNvPr id="7" name="Text 5"/>
          <p:cNvSpPr txBox="1"/>
          <p:nvPr/>
        </p:nvSpPr>
        <p:spPr>
          <a:xfrm>
            <a:off x="640080" y="3291840"/>
            <a:ext cx="2320290" cy="457200"/>
          </a:xfrm>
          <a:prstGeom prst="rect">
            <a:avLst/>
          </a:prstGeom>
          <a:noFill/>
          <a:ln/>
        </p:spPr>
        <p:txBody>
          <a:bodyPr wrap="square" lIns="0" tIns="0" rIns="0" bIns="0" rtlCol="0" anchor="t"/>
          <a:lstStyle/>
          <a:p>
            <a:pPr algn="l" indent="0" marL="0">
              <a:buNone/>
            </a:pPr>
            <a:r>
              <a:rPr lang="en-US" sz="1150" dirty="0">
                <a:solidFill>
                  <a:srgbClr val="182033"/>
                </a:solidFill>
                <a:latin typeface="Calibri" pitchFamily="34" charset="0"/>
                <a:ea typeface="Calibri" pitchFamily="34" charset="-122"/>
                <a:cs typeface="Calibri" pitchFamily="34" charset="-120"/>
              </a:rPr>
              <a:t>of monitored cold-chain products in France exceeded safe temperatures at some point in transit/storage</a:t>
            </a:r>
            <a:endParaRPr lang="en-US" sz="1150" dirty="0"/>
          </a:p>
        </p:txBody>
      </p:sp>
      <p:sp>
        <p:nvSpPr>
          <p:cNvPr id="8" name="Shape 6"/>
          <p:cNvSpPr/>
          <p:nvPr/>
        </p:nvSpPr>
        <p:spPr>
          <a:xfrm>
            <a:off x="3371850" y="1828800"/>
            <a:ext cx="2594610" cy="1965960"/>
          </a:xfrm>
          <a:prstGeom prst="roundRect">
            <a:avLst>
              <a:gd name="adj" fmla="val 3721"/>
            </a:avLst>
          </a:prstGeom>
          <a:solidFill>
            <a:srgbClr val="F4F6F9"/>
          </a:solidFill>
          <a:ln w="9525">
            <a:solidFill>
              <a:srgbClr val="DDE3EC"/>
            </a:solidFill>
            <a:prstDash val="solid"/>
          </a:ln>
          <a:effectLst>
            <a:outerShdw sx="100000" sy="100000" kx="0" ky="0" algn="bl" rotWithShape="0" blurRad="76200" dist="25400" dir="5400000">
              <a:srgbClr val="182033">
                <a:alpha val="12000"/>
              </a:srgbClr>
            </a:outerShdw>
          </a:effectLst>
        </p:spPr>
      </p:sp>
      <p:sp>
        <p:nvSpPr>
          <p:cNvPr id="9" name="Text 7"/>
          <p:cNvSpPr txBox="1"/>
          <p:nvPr/>
        </p:nvSpPr>
        <p:spPr>
          <a:xfrm>
            <a:off x="3509010" y="1993392"/>
            <a:ext cx="2320290" cy="1081278"/>
          </a:xfrm>
          <a:prstGeom prst="rect">
            <a:avLst/>
          </a:prstGeom>
          <a:noFill/>
          <a:ln/>
        </p:spPr>
        <p:txBody>
          <a:bodyPr wrap="square" lIns="0" tIns="0" rIns="0" bIns="0" rtlCol="0" anchor="ctr"/>
          <a:lstStyle/>
          <a:p>
            <a:pPr algn="l" indent="0" marL="0">
              <a:buNone/>
            </a:pPr>
            <a:r>
              <a:rPr lang="en-US" sz="3000" b="1" dirty="0">
                <a:solidFill>
                  <a:srgbClr val="0B63B6"/>
                </a:solidFill>
                <a:latin typeface="Cambria" pitchFamily="34" charset="0"/>
                <a:ea typeface="Cambria" pitchFamily="34" charset="-122"/>
                <a:cs typeface="Cambria" pitchFamily="34" charset="-120"/>
              </a:rPr>
              <a:t>16.7–29.2%</a:t>
            </a:r>
            <a:endParaRPr lang="en-US" sz="3000" dirty="0"/>
          </a:p>
        </p:txBody>
      </p:sp>
      <p:sp>
        <p:nvSpPr>
          <p:cNvPr id="10" name="Text 8"/>
          <p:cNvSpPr txBox="1"/>
          <p:nvPr/>
        </p:nvSpPr>
        <p:spPr>
          <a:xfrm>
            <a:off x="3509010" y="3291840"/>
            <a:ext cx="2320290" cy="457200"/>
          </a:xfrm>
          <a:prstGeom prst="rect">
            <a:avLst/>
          </a:prstGeom>
          <a:noFill/>
          <a:ln/>
        </p:spPr>
        <p:txBody>
          <a:bodyPr wrap="square" lIns="0" tIns="0" rIns="0" bIns="0" rtlCol="0" anchor="t"/>
          <a:lstStyle/>
          <a:p>
            <a:pPr algn="l" indent="0" marL="0">
              <a:buNone/>
            </a:pPr>
            <a:r>
              <a:rPr lang="en-US" sz="1150" dirty="0">
                <a:solidFill>
                  <a:srgbClr val="182033"/>
                </a:solidFill>
                <a:latin typeface="Calibri" pitchFamily="34" charset="0"/>
                <a:ea typeface="Calibri" pitchFamily="34" charset="-122"/>
                <a:cs typeface="Calibri" pitchFamily="34" charset="-120"/>
              </a:rPr>
              <a:t>missing-value rates documented in real-world environmental IoT sensor deployments</a:t>
            </a:r>
            <a:endParaRPr lang="en-US" sz="1150" dirty="0"/>
          </a:p>
        </p:txBody>
      </p:sp>
      <p:sp>
        <p:nvSpPr>
          <p:cNvPr id="11" name="Shape 9"/>
          <p:cNvSpPr/>
          <p:nvPr/>
        </p:nvSpPr>
        <p:spPr>
          <a:xfrm>
            <a:off x="6240780" y="1828800"/>
            <a:ext cx="2594610" cy="1965960"/>
          </a:xfrm>
          <a:prstGeom prst="roundRect">
            <a:avLst>
              <a:gd name="adj" fmla="val 3721"/>
            </a:avLst>
          </a:prstGeom>
          <a:solidFill>
            <a:srgbClr val="F4F6F9"/>
          </a:solidFill>
          <a:ln w="9525">
            <a:solidFill>
              <a:srgbClr val="DDE3EC"/>
            </a:solidFill>
            <a:prstDash val="solid"/>
          </a:ln>
          <a:effectLst>
            <a:outerShdw sx="100000" sy="100000" kx="0" ky="0" algn="bl" rotWithShape="0" blurRad="76200" dist="25400" dir="5400000">
              <a:srgbClr val="182033">
                <a:alpha val="12000"/>
              </a:srgbClr>
            </a:outerShdw>
          </a:effectLst>
        </p:spPr>
      </p:sp>
      <p:sp>
        <p:nvSpPr>
          <p:cNvPr id="12" name="Text 10"/>
          <p:cNvSpPr txBox="1"/>
          <p:nvPr/>
        </p:nvSpPr>
        <p:spPr>
          <a:xfrm>
            <a:off x="6377940" y="1993392"/>
            <a:ext cx="2320290" cy="1081278"/>
          </a:xfrm>
          <a:prstGeom prst="rect">
            <a:avLst/>
          </a:prstGeom>
          <a:noFill/>
          <a:ln/>
        </p:spPr>
        <p:txBody>
          <a:bodyPr wrap="square" lIns="0" tIns="0" rIns="0" bIns="0" rtlCol="0" anchor="ctr"/>
          <a:lstStyle/>
          <a:p>
            <a:pPr algn="l" indent="0" marL="0">
              <a:buNone/>
            </a:pPr>
            <a:r>
              <a:rPr lang="en-US" sz="3000" b="1" dirty="0">
                <a:solidFill>
                  <a:srgbClr val="D99A0B"/>
                </a:solidFill>
                <a:latin typeface="Cambria" pitchFamily="34" charset="0"/>
                <a:ea typeface="Cambria" pitchFamily="34" charset="-122"/>
                <a:cs typeface="Cambria" pitchFamily="34" charset="-120"/>
              </a:rPr>
              <a:t>25–50%</a:t>
            </a:r>
            <a:endParaRPr lang="en-US" sz="3000" dirty="0"/>
          </a:p>
        </p:txBody>
      </p:sp>
      <p:sp>
        <p:nvSpPr>
          <p:cNvPr id="13" name="Text 11"/>
          <p:cNvSpPr txBox="1"/>
          <p:nvPr/>
        </p:nvSpPr>
        <p:spPr>
          <a:xfrm>
            <a:off x="6377940" y="3291840"/>
            <a:ext cx="2320290" cy="457200"/>
          </a:xfrm>
          <a:prstGeom prst="rect">
            <a:avLst/>
          </a:prstGeom>
          <a:noFill/>
          <a:ln/>
        </p:spPr>
        <p:txBody>
          <a:bodyPr wrap="square" lIns="0" tIns="0" rIns="0" bIns="0" rtlCol="0" anchor="t"/>
          <a:lstStyle/>
          <a:p>
            <a:pPr algn="l" indent="0" marL="0">
              <a:buNone/>
            </a:pPr>
            <a:r>
              <a:rPr lang="en-US" sz="1150" dirty="0">
                <a:solidFill>
                  <a:srgbClr val="182033"/>
                </a:solidFill>
                <a:latin typeface="Calibri" pitchFamily="34" charset="0"/>
                <a:ea typeface="Calibri" pitchFamily="34" charset="-122"/>
                <a:cs typeface="Calibri" pitchFamily="34" charset="-120"/>
              </a:rPr>
              <a:t>global spoilage rate in perishable supply chains (FAO)</a:t>
            </a:r>
            <a:endParaRPr lang="en-US" sz="1150" dirty="0"/>
          </a:p>
        </p:txBody>
      </p:sp>
      <p:sp>
        <p:nvSpPr>
          <p:cNvPr id="14" name="Shape 12"/>
          <p:cNvSpPr/>
          <p:nvPr/>
        </p:nvSpPr>
        <p:spPr>
          <a:xfrm>
            <a:off x="9109710" y="1828800"/>
            <a:ext cx="2594610" cy="1965960"/>
          </a:xfrm>
          <a:prstGeom prst="roundRect">
            <a:avLst>
              <a:gd name="adj" fmla="val 3721"/>
            </a:avLst>
          </a:prstGeom>
          <a:solidFill>
            <a:srgbClr val="F4F6F9"/>
          </a:solidFill>
          <a:ln w="9525">
            <a:solidFill>
              <a:srgbClr val="DDE3EC"/>
            </a:solidFill>
            <a:prstDash val="solid"/>
          </a:ln>
          <a:effectLst>
            <a:outerShdw sx="100000" sy="100000" kx="0" ky="0" algn="bl" rotWithShape="0" blurRad="76200" dist="25400" dir="5400000">
              <a:srgbClr val="182033">
                <a:alpha val="12000"/>
              </a:srgbClr>
            </a:outerShdw>
          </a:effectLst>
        </p:spPr>
      </p:sp>
      <p:sp>
        <p:nvSpPr>
          <p:cNvPr id="15" name="Text 13"/>
          <p:cNvSpPr txBox="1"/>
          <p:nvPr/>
        </p:nvSpPr>
        <p:spPr>
          <a:xfrm>
            <a:off x="9246870" y="1993392"/>
            <a:ext cx="2320290" cy="1081278"/>
          </a:xfrm>
          <a:prstGeom prst="rect">
            <a:avLst/>
          </a:prstGeom>
          <a:noFill/>
          <a:ln/>
        </p:spPr>
        <p:txBody>
          <a:bodyPr wrap="square" lIns="0" tIns="0" rIns="0" bIns="0" rtlCol="0" anchor="ctr"/>
          <a:lstStyle/>
          <a:p>
            <a:pPr algn="l" indent="0" marL="0">
              <a:buNone/>
            </a:pPr>
            <a:r>
              <a:rPr lang="en-US" sz="3000" b="1" dirty="0">
                <a:solidFill>
                  <a:srgbClr val="14743F"/>
                </a:solidFill>
                <a:latin typeface="Cambria" pitchFamily="34" charset="0"/>
                <a:ea typeface="Cambria" pitchFamily="34" charset="-122"/>
                <a:cs typeface="Cambria" pitchFamily="34" charset="-120"/>
              </a:rPr>
              <a:t>32%</a:t>
            </a:r>
            <a:endParaRPr lang="en-US" sz="3000" dirty="0"/>
          </a:p>
        </p:txBody>
      </p:sp>
      <p:sp>
        <p:nvSpPr>
          <p:cNvPr id="16" name="Text 14"/>
          <p:cNvSpPr txBox="1"/>
          <p:nvPr/>
        </p:nvSpPr>
        <p:spPr>
          <a:xfrm>
            <a:off x="9246870" y="3291840"/>
            <a:ext cx="2320290" cy="457200"/>
          </a:xfrm>
          <a:prstGeom prst="rect">
            <a:avLst/>
          </a:prstGeom>
          <a:noFill/>
          <a:ln/>
        </p:spPr>
        <p:txBody>
          <a:bodyPr wrap="square" lIns="0" tIns="0" rIns="0" bIns="0" rtlCol="0" anchor="t"/>
          <a:lstStyle/>
          <a:p>
            <a:pPr algn="l" indent="0" marL="0">
              <a:buNone/>
            </a:pPr>
            <a:r>
              <a:rPr lang="en-US" sz="1150" dirty="0">
                <a:solidFill>
                  <a:srgbClr val="182033"/>
                </a:solidFill>
                <a:latin typeface="Calibri" pitchFamily="34" charset="0"/>
                <a:ea typeface="Calibri" pitchFamily="34" charset="-122"/>
                <a:cs typeface="Calibri" pitchFamily="34" charset="-120"/>
              </a:rPr>
              <a:t>of monitored vaccine refrigerators in one study stayed within the safe range for their entire monitored period</a:t>
            </a:r>
            <a:endParaRPr lang="en-US" sz="1150" dirty="0"/>
          </a:p>
        </p:txBody>
      </p:sp>
      <p:sp>
        <p:nvSpPr>
          <p:cNvPr id="17" name="Shape 15"/>
          <p:cNvSpPr/>
          <p:nvPr/>
        </p:nvSpPr>
        <p:spPr>
          <a:xfrm>
            <a:off x="502920" y="4023360"/>
            <a:ext cx="11201400" cy="1783080"/>
          </a:xfrm>
          <a:prstGeom prst="roundRect">
            <a:avLst>
              <a:gd name="adj" fmla="val 3590"/>
            </a:avLst>
          </a:prstGeom>
          <a:solidFill>
            <a:srgbClr val="E6F0FA"/>
          </a:solidFill>
          <a:ln w="9525">
            <a:solidFill>
              <a:srgbClr val="CFE1F5"/>
            </a:solidFill>
            <a:prstDash val="solid"/>
          </a:ln>
        </p:spPr>
      </p:sp>
      <p:sp>
        <p:nvSpPr>
          <p:cNvPr id="18" name="Text 16"/>
          <p:cNvSpPr txBox="1"/>
          <p:nvPr/>
        </p:nvSpPr>
        <p:spPr>
          <a:xfrm>
            <a:off x="777240" y="4206240"/>
            <a:ext cx="4572000" cy="320040"/>
          </a:xfrm>
          <a:prstGeom prst="rect">
            <a:avLst/>
          </a:prstGeom>
          <a:noFill/>
          <a:ln/>
        </p:spPr>
        <p:txBody>
          <a:bodyPr wrap="square" lIns="0" tIns="0" rIns="0" bIns="0" rtlCol="0" anchor="ctr"/>
          <a:lstStyle/>
          <a:p>
            <a:pPr indent="0" marL="0">
              <a:buNone/>
            </a:pPr>
            <a:r>
              <a:rPr lang="en-US" sz="1400" b="1" dirty="0">
                <a:solidFill>
                  <a:srgbClr val="0F1B2D"/>
                </a:solidFill>
                <a:latin typeface="Cambria" pitchFamily="34" charset="0"/>
                <a:ea typeface="Cambria" pitchFamily="34" charset="-122"/>
                <a:cs typeface="Cambria" pitchFamily="34" charset="-120"/>
              </a:rPr>
              <a:t>Sri Lanka context</a:t>
            </a:r>
            <a:endParaRPr lang="en-US" sz="1400" dirty="0"/>
          </a:p>
        </p:txBody>
      </p:sp>
      <p:sp>
        <p:nvSpPr>
          <p:cNvPr id="19" name="Text 17"/>
          <p:cNvSpPr txBox="1"/>
          <p:nvPr/>
        </p:nvSpPr>
        <p:spPr>
          <a:xfrm>
            <a:off x="777240" y="4553712"/>
            <a:ext cx="10652760" cy="1097280"/>
          </a:xfrm>
          <a:prstGeom prst="rect">
            <a:avLst/>
          </a:prstGeom>
          <a:noFill/>
          <a:ln/>
        </p:spPr>
        <p:txBody>
          <a:bodyPr wrap="square" lIns="0" tIns="0" rIns="0" bIns="0" rtlCol="0" anchor="ctr"/>
          <a:lstStyle/>
          <a:p>
            <a:pPr indent="0" marL="0">
              <a:lnSpc>
                <a:spcPct val="120000"/>
              </a:lnSpc>
              <a:buNone/>
            </a:pPr>
            <a:r>
              <a:rPr lang="en-US" sz="1300" dirty="0">
                <a:solidFill>
                  <a:srgbClr val="182033"/>
                </a:solidFill>
                <a:latin typeface="Calibri" pitchFamily="34" charset="0"/>
                <a:ea typeface="Calibri" pitchFamily="34" charset="-122"/>
                <a:cs typeface="Calibri" pitchFamily="34" charset="-120"/>
              </a:rPr>
              <a:t>Sri Lanka's cold-chain sector is documented as underdeveloped, with high electricity cost and infrastructure gaps named as the main limiting factors. Nationwide power outages are a recurring, dated, real event — exactly the “power cuts” failure mode named in the proposal, not a hypothetical.</a:t>
            </a:r>
            <a:endParaRPr lang="en-US" sz="1300" dirty="0"/>
          </a:p>
        </p:txBody>
      </p:sp>
      <p:sp>
        <p:nvSpPr>
          <p:cNvPr id="20" name="Text 18"/>
          <p:cNvSpPr txBox="1"/>
          <p:nvPr/>
        </p:nvSpPr>
        <p:spPr>
          <a:xfrm>
            <a:off x="502920" y="6510528"/>
            <a:ext cx="11155680" cy="274320"/>
          </a:xfrm>
          <a:prstGeom prst="rect">
            <a:avLst/>
          </a:prstGeom>
          <a:noFill/>
          <a:ln/>
        </p:spPr>
        <p:txBody>
          <a:bodyPr wrap="square" lIns="0" tIns="0" rIns="0" bIns="0" rtlCol="0" anchor="ctr"/>
          <a:lstStyle/>
          <a:p>
            <a:pPr indent="0" marL="0">
              <a:buNone/>
            </a:pPr>
            <a:r>
              <a:rPr lang="en-US" sz="900" i="1" dirty="0">
                <a:solidFill>
                  <a:srgbClr val="5B6577"/>
                </a:solidFill>
                <a:latin typeface="Calibri" pitchFamily="34" charset="0"/>
                <a:ea typeface="Calibri" pitchFamily="34" charset="-122"/>
                <a:cs typeface="Calibri" pitchFamily="34" charset="-120"/>
              </a:rPr>
              <a:t>Sources: Time-Temperature Management Along the Food Cold Chain (agrireseau.net) • Sensor Data Quality: A Systematic Review, Springer • FAO • Keep Cool vaccine cold-chain study, PMC • Sri Lanka NCAP Cooling Strategy • 2020 Sri Lankan Blackouts, Wikipedia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10332720" y="-457200"/>
            <a:ext cx="2286000" cy="2286000"/>
          </a:xfrm>
          <a:prstGeom prst="rect">
            <a:avLst/>
          </a:prstGeom>
          <a:noFill/>
          <a:ln/>
        </p:spPr>
        <p:txBody>
          <a:bodyPr wrap="square" lIns="0" tIns="0" rIns="0" bIns="0" rtlCol="0" anchor="ctr"/>
          <a:lstStyle/>
          <a:p>
            <a:pPr algn="ctr" indent="0" marL="0">
              <a:buNone/>
            </a:pPr>
            <a:r>
              <a:rPr lang="en-US" sz="14000" dirty="0">
                <a:solidFill>
                  <a:srgbClr val="18273D"/>
                </a:solidFill>
                <a:latin typeface="Arial" pitchFamily="34" charset="0"/>
                <a:ea typeface="Arial" pitchFamily="34" charset="-122"/>
                <a:cs typeface="Arial" pitchFamily="34" charset="-120"/>
              </a:rPr>
              <a:t>❄</a:t>
            </a:r>
            <a:endParaRPr lang="en-US" sz="14000" dirty="0"/>
          </a:p>
        </p:txBody>
      </p:sp>
      <p:sp>
        <p:nvSpPr>
          <p:cNvPr id="3" name="Text 1"/>
          <p:cNvSpPr txBox="1"/>
          <p:nvPr/>
        </p:nvSpPr>
        <p:spPr>
          <a:xfrm>
            <a:off x="502920" y="292608"/>
            <a:ext cx="8229600" cy="274320"/>
          </a:xfrm>
          <a:prstGeom prst="rect">
            <a:avLst/>
          </a:prstGeom>
          <a:noFill/>
          <a:ln/>
        </p:spPr>
        <p:txBody>
          <a:bodyPr wrap="square" rtlCol="0" anchor="ctr"/>
          <a:lstStyle/>
          <a:p>
            <a:pPr indent="0" marL="0">
              <a:buNone/>
            </a:pPr>
            <a:r>
              <a:rPr lang="en-US" sz="1200" b="1" spc="200" kern="0" dirty="0">
                <a:solidFill>
                  <a:srgbClr val="7CC4FF"/>
                </a:solidFill>
                <a:latin typeface="Calibri" pitchFamily="34" charset="0"/>
                <a:ea typeface="Calibri" pitchFamily="34" charset="-122"/>
                <a:cs typeface="Calibri" pitchFamily="34" charset="-120"/>
              </a:rPr>
              <a:t>IS THIS PROBLEM REAL?</a:t>
            </a:r>
            <a:endParaRPr lang="en-US" sz="1200" dirty="0"/>
          </a:p>
        </p:txBody>
      </p:sp>
      <p:sp>
        <p:nvSpPr>
          <p:cNvPr id="4" name="Text 2"/>
          <p:cNvSpPr txBox="1"/>
          <p:nvPr/>
        </p:nvSpPr>
        <p:spPr>
          <a:xfrm>
            <a:off x="502920" y="548640"/>
            <a:ext cx="111556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And Here's What I Found In My Own Data</a:t>
            </a:r>
            <a:endParaRPr lang="en-US" sz="3000" dirty="0"/>
          </a:p>
        </p:txBody>
      </p:sp>
      <p:sp>
        <p:nvSpPr>
          <p:cNvPr id="5" name="Text 3"/>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Not simulated. Not assumed. Measured by my own data-quality engine running on real IoT telemetry.</a:t>
            </a:r>
            <a:endParaRPr lang="en-US" sz="1400" dirty="0"/>
          </a:p>
        </p:txBody>
      </p:sp>
      <p:sp>
        <p:nvSpPr>
          <p:cNvPr id="6" name="Shape 4"/>
          <p:cNvSpPr/>
          <p:nvPr/>
        </p:nvSpPr>
        <p:spPr>
          <a:xfrm>
            <a:off x="502920" y="1965960"/>
            <a:ext cx="2594610" cy="2103120"/>
          </a:xfrm>
          <a:prstGeom prst="roundRect">
            <a:avLst>
              <a:gd name="adj" fmla="val 3478"/>
            </a:avLst>
          </a:prstGeom>
          <a:solidFill>
            <a:srgbClr val="18273D"/>
          </a:solidFill>
          <a:ln w="9525">
            <a:solidFill>
              <a:srgbClr val="24354F"/>
            </a:solidFill>
            <a:prstDash val="solid"/>
          </a:ln>
        </p:spPr>
      </p:sp>
      <p:sp>
        <p:nvSpPr>
          <p:cNvPr id="7" name="Text 5"/>
          <p:cNvSpPr txBox="1"/>
          <p:nvPr/>
        </p:nvSpPr>
        <p:spPr>
          <a:xfrm>
            <a:off x="667512" y="2148840"/>
            <a:ext cx="2265426" cy="822960"/>
          </a:xfrm>
          <a:prstGeom prst="rect">
            <a:avLst/>
          </a:prstGeom>
          <a:noFill/>
          <a:ln/>
        </p:spPr>
        <p:txBody>
          <a:bodyPr wrap="square" lIns="0" tIns="0" rIns="0" bIns="0" rtlCol="0" anchor="ctr"/>
          <a:lstStyle/>
          <a:p>
            <a:pPr indent="0" marL="0">
              <a:buNone/>
            </a:pPr>
            <a:r>
              <a:rPr lang="en-US" sz="2800" b="1" dirty="0">
                <a:solidFill>
                  <a:srgbClr val="7CC4FF"/>
                </a:solidFill>
                <a:latin typeface="Cambria" pitchFamily="34" charset="0"/>
                <a:ea typeface="Cambria" pitchFamily="34" charset="-122"/>
                <a:cs typeface="Cambria" pitchFamily="34" charset="-120"/>
              </a:rPr>
              <a:t>405,184</a:t>
            </a:r>
            <a:endParaRPr lang="en-US" sz="2800" dirty="0"/>
          </a:p>
        </p:txBody>
      </p:sp>
      <p:sp>
        <p:nvSpPr>
          <p:cNvPr id="8" name="Text 6"/>
          <p:cNvSpPr txBox="1"/>
          <p:nvPr/>
        </p:nvSpPr>
        <p:spPr>
          <a:xfrm>
            <a:off x="667512" y="2926080"/>
            <a:ext cx="2265426" cy="1051560"/>
          </a:xfrm>
          <a:prstGeom prst="rect">
            <a:avLst/>
          </a:prstGeom>
          <a:noFill/>
          <a:ln/>
        </p:spPr>
        <p:txBody>
          <a:bodyPr wrap="square" lIns="0" tIns="0" rIns="0" bIns="0" rtlCol="0" anchor="t"/>
          <a:lstStyle/>
          <a:p>
            <a:pPr indent="0" marL="0">
              <a:lnSpc>
                <a:spcPct val="115000"/>
              </a:lnSpc>
              <a:buNone/>
            </a:pPr>
            <a:r>
              <a:rPr lang="en-US" sz="1150" dirty="0">
                <a:solidFill>
                  <a:srgbClr val="D5DEEC"/>
                </a:solidFill>
                <a:latin typeface="Calibri" pitchFamily="34" charset="0"/>
                <a:ea typeface="Calibri" pitchFamily="34" charset="-122"/>
                <a:cs typeface="Calibri" pitchFamily="34" charset="-120"/>
              </a:rPr>
              <a:t>real IoT sensor readings analyzed (3 devices, 8 days)</a:t>
            </a:r>
            <a:endParaRPr lang="en-US" sz="1150" dirty="0"/>
          </a:p>
        </p:txBody>
      </p:sp>
      <p:sp>
        <p:nvSpPr>
          <p:cNvPr id="9" name="Shape 7"/>
          <p:cNvSpPr/>
          <p:nvPr/>
        </p:nvSpPr>
        <p:spPr>
          <a:xfrm>
            <a:off x="3371850" y="1965960"/>
            <a:ext cx="2594610" cy="2103120"/>
          </a:xfrm>
          <a:prstGeom prst="roundRect">
            <a:avLst>
              <a:gd name="adj" fmla="val 3478"/>
            </a:avLst>
          </a:prstGeom>
          <a:solidFill>
            <a:srgbClr val="18273D"/>
          </a:solidFill>
          <a:ln w="9525">
            <a:solidFill>
              <a:srgbClr val="24354F"/>
            </a:solidFill>
            <a:prstDash val="solid"/>
          </a:ln>
        </p:spPr>
      </p:sp>
      <p:sp>
        <p:nvSpPr>
          <p:cNvPr id="10" name="Text 8"/>
          <p:cNvSpPr txBox="1"/>
          <p:nvPr/>
        </p:nvSpPr>
        <p:spPr>
          <a:xfrm>
            <a:off x="3536442" y="2148840"/>
            <a:ext cx="2265426" cy="822960"/>
          </a:xfrm>
          <a:prstGeom prst="rect">
            <a:avLst/>
          </a:prstGeom>
          <a:noFill/>
          <a:ln/>
        </p:spPr>
        <p:txBody>
          <a:bodyPr wrap="square" lIns="0" tIns="0" rIns="0" bIns="0" rtlCol="0" anchor="ctr"/>
          <a:lstStyle/>
          <a:p>
            <a:pPr indent="0" marL="0">
              <a:buNone/>
            </a:pPr>
            <a:r>
              <a:rPr lang="en-US" sz="2800" b="1" dirty="0">
                <a:solidFill>
                  <a:srgbClr val="7CC4FF"/>
                </a:solidFill>
                <a:latin typeface="Cambria" pitchFamily="34" charset="0"/>
                <a:ea typeface="Cambria" pitchFamily="34" charset="-122"/>
                <a:cs typeface="Cambria" pitchFamily="34" charset="-120"/>
              </a:rPr>
              <a:t>2,502</a:t>
            </a:r>
            <a:endParaRPr lang="en-US" sz="2800" dirty="0"/>
          </a:p>
        </p:txBody>
      </p:sp>
      <p:sp>
        <p:nvSpPr>
          <p:cNvPr id="11" name="Text 9"/>
          <p:cNvSpPr txBox="1"/>
          <p:nvPr/>
        </p:nvSpPr>
        <p:spPr>
          <a:xfrm>
            <a:off x="3536442" y="2926080"/>
            <a:ext cx="2265426" cy="1051560"/>
          </a:xfrm>
          <a:prstGeom prst="rect">
            <a:avLst/>
          </a:prstGeom>
          <a:noFill/>
          <a:ln/>
        </p:spPr>
        <p:txBody>
          <a:bodyPr wrap="square" lIns="0" tIns="0" rIns="0" bIns="0" rtlCol="0" anchor="t"/>
          <a:lstStyle/>
          <a:p>
            <a:pPr indent="0" marL="0">
              <a:lnSpc>
                <a:spcPct val="115000"/>
              </a:lnSpc>
              <a:buNone/>
            </a:pPr>
            <a:r>
              <a:rPr lang="en-US" sz="1150" dirty="0">
                <a:solidFill>
                  <a:srgbClr val="D5DEEC"/>
                </a:solidFill>
                <a:latin typeface="Calibri" pitchFamily="34" charset="0"/>
                <a:ea typeface="Calibri" pitchFamily="34" charset="-122"/>
                <a:cs typeface="Calibri" pitchFamily="34" charset="-120"/>
              </a:rPr>
              <a:t>readings flagged unreliable — 2,038 gaps, 388 outliers, 76 noise events</a:t>
            </a:r>
            <a:endParaRPr lang="en-US" sz="1150" dirty="0"/>
          </a:p>
        </p:txBody>
      </p:sp>
      <p:sp>
        <p:nvSpPr>
          <p:cNvPr id="12" name="Shape 10"/>
          <p:cNvSpPr/>
          <p:nvPr/>
        </p:nvSpPr>
        <p:spPr>
          <a:xfrm>
            <a:off x="6240780" y="1965960"/>
            <a:ext cx="2594610" cy="2103120"/>
          </a:xfrm>
          <a:prstGeom prst="roundRect">
            <a:avLst>
              <a:gd name="adj" fmla="val 3478"/>
            </a:avLst>
          </a:prstGeom>
          <a:solidFill>
            <a:srgbClr val="18273D"/>
          </a:solidFill>
          <a:ln w="9525">
            <a:solidFill>
              <a:srgbClr val="24354F"/>
            </a:solidFill>
            <a:prstDash val="solid"/>
          </a:ln>
        </p:spPr>
      </p:sp>
      <p:sp>
        <p:nvSpPr>
          <p:cNvPr id="13" name="Text 11"/>
          <p:cNvSpPr txBox="1"/>
          <p:nvPr/>
        </p:nvSpPr>
        <p:spPr>
          <a:xfrm>
            <a:off x="6405372" y="2148840"/>
            <a:ext cx="2265426" cy="822960"/>
          </a:xfrm>
          <a:prstGeom prst="rect">
            <a:avLst/>
          </a:prstGeom>
          <a:noFill/>
          <a:ln/>
        </p:spPr>
        <p:txBody>
          <a:bodyPr wrap="square" lIns="0" tIns="0" rIns="0" bIns="0" rtlCol="0" anchor="ctr"/>
          <a:lstStyle/>
          <a:p>
            <a:pPr indent="0" marL="0">
              <a:buNone/>
            </a:pPr>
            <a:r>
              <a:rPr lang="en-US" sz="2800" b="1" dirty="0">
                <a:solidFill>
                  <a:srgbClr val="7CC4FF"/>
                </a:solidFill>
                <a:latin typeface="Cambria" pitchFamily="34" charset="0"/>
                <a:ea typeface="Cambria" pitchFamily="34" charset="-122"/>
                <a:cs typeface="Cambria" pitchFamily="34" charset="-120"/>
              </a:rPr>
              <a:t>7</a:t>
            </a:r>
            <a:endParaRPr lang="en-US" sz="2800" dirty="0"/>
          </a:p>
        </p:txBody>
      </p:sp>
      <p:sp>
        <p:nvSpPr>
          <p:cNvPr id="14" name="Text 12"/>
          <p:cNvSpPr txBox="1"/>
          <p:nvPr/>
        </p:nvSpPr>
        <p:spPr>
          <a:xfrm>
            <a:off x="6405372" y="2926080"/>
            <a:ext cx="2265426" cy="1051560"/>
          </a:xfrm>
          <a:prstGeom prst="rect">
            <a:avLst/>
          </a:prstGeom>
          <a:noFill/>
          <a:ln/>
        </p:spPr>
        <p:txBody>
          <a:bodyPr wrap="square" lIns="0" tIns="0" rIns="0" bIns="0" rtlCol="0" anchor="t"/>
          <a:lstStyle/>
          <a:p>
            <a:pPr indent="0" marL="0">
              <a:lnSpc>
                <a:spcPct val="115000"/>
              </a:lnSpc>
              <a:buNone/>
            </a:pPr>
            <a:r>
              <a:rPr lang="en-US" sz="1150" dirty="0">
                <a:solidFill>
                  <a:srgbClr val="D5DEEC"/>
                </a:solidFill>
                <a:latin typeface="Calibri" pitchFamily="34" charset="0"/>
                <a:ea typeface="Calibri" pitchFamily="34" charset="-122"/>
                <a:cs typeface="Calibri" pitchFamily="34" charset="-120"/>
              </a:rPr>
              <a:t>confirmed safe-limit temperature excursions detected</a:t>
            </a:r>
            <a:endParaRPr lang="en-US" sz="1150" dirty="0"/>
          </a:p>
        </p:txBody>
      </p:sp>
      <p:sp>
        <p:nvSpPr>
          <p:cNvPr id="15" name="Shape 13"/>
          <p:cNvSpPr/>
          <p:nvPr/>
        </p:nvSpPr>
        <p:spPr>
          <a:xfrm>
            <a:off x="9109710" y="1965960"/>
            <a:ext cx="2594610" cy="2103120"/>
          </a:xfrm>
          <a:prstGeom prst="roundRect">
            <a:avLst>
              <a:gd name="adj" fmla="val 3478"/>
            </a:avLst>
          </a:prstGeom>
          <a:solidFill>
            <a:srgbClr val="18273D"/>
          </a:solidFill>
          <a:ln w="9525">
            <a:solidFill>
              <a:srgbClr val="24354F"/>
            </a:solidFill>
            <a:prstDash val="solid"/>
          </a:ln>
        </p:spPr>
      </p:sp>
      <p:sp>
        <p:nvSpPr>
          <p:cNvPr id="16" name="Text 14"/>
          <p:cNvSpPr txBox="1"/>
          <p:nvPr/>
        </p:nvSpPr>
        <p:spPr>
          <a:xfrm>
            <a:off x="9274302" y="2148840"/>
            <a:ext cx="2265426" cy="822960"/>
          </a:xfrm>
          <a:prstGeom prst="rect">
            <a:avLst/>
          </a:prstGeom>
          <a:noFill/>
          <a:ln/>
        </p:spPr>
        <p:txBody>
          <a:bodyPr wrap="square" lIns="0" tIns="0" rIns="0" bIns="0" rtlCol="0" anchor="ctr"/>
          <a:lstStyle/>
          <a:p>
            <a:pPr indent="0" marL="0">
              <a:buNone/>
            </a:pPr>
            <a:r>
              <a:rPr lang="en-US" sz="2800" b="1" dirty="0">
                <a:solidFill>
                  <a:srgbClr val="7CC4FF"/>
                </a:solidFill>
                <a:latin typeface="Cambria" pitchFamily="34" charset="0"/>
                <a:ea typeface="Cambria" pitchFamily="34" charset="-122"/>
                <a:cs typeface="Cambria" pitchFamily="34" charset="-120"/>
              </a:rPr>
              <a:t>$1,024</a:t>
            </a:r>
            <a:endParaRPr lang="en-US" sz="2800" dirty="0"/>
          </a:p>
        </p:txBody>
      </p:sp>
      <p:sp>
        <p:nvSpPr>
          <p:cNvPr id="17" name="Text 15"/>
          <p:cNvSpPr txBox="1"/>
          <p:nvPr/>
        </p:nvSpPr>
        <p:spPr>
          <a:xfrm>
            <a:off x="9274302" y="2926080"/>
            <a:ext cx="2265426" cy="1051560"/>
          </a:xfrm>
          <a:prstGeom prst="rect">
            <a:avLst/>
          </a:prstGeom>
          <a:noFill/>
          <a:ln/>
        </p:spPr>
        <p:txBody>
          <a:bodyPr wrap="square" lIns="0" tIns="0" rIns="0" bIns="0" rtlCol="0" anchor="t"/>
          <a:lstStyle/>
          <a:p>
            <a:pPr indent="0" marL="0">
              <a:lnSpc>
                <a:spcPct val="115000"/>
              </a:lnSpc>
              <a:buNone/>
            </a:pPr>
            <a:r>
              <a:rPr lang="en-US" sz="1150" dirty="0">
                <a:solidFill>
                  <a:srgbClr val="D5DEEC"/>
                </a:solidFill>
                <a:latin typeface="Calibri" pitchFamily="34" charset="0"/>
                <a:ea typeface="Calibri" pitchFamily="34" charset="-122"/>
                <a:cs typeface="Calibri" pitchFamily="34" charset="-120"/>
              </a:rPr>
              <a:t>revenue at risk identified, out of $7,571 in exposed sales (13.5%)</a:t>
            </a:r>
            <a:endParaRPr lang="en-US" sz="1150" dirty="0"/>
          </a:p>
        </p:txBody>
      </p:sp>
      <p:sp>
        <p:nvSpPr>
          <p:cNvPr id="18" name="Shape 16"/>
          <p:cNvSpPr/>
          <p:nvPr/>
        </p:nvSpPr>
        <p:spPr>
          <a:xfrm>
            <a:off x="502920" y="4343400"/>
            <a:ext cx="11201400" cy="1600200"/>
          </a:xfrm>
          <a:prstGeom prst="roundRect">
            <a:avLst>
              <a:gd name="adj" fmla="val 4000"/>
            </a:avLst>
          </a:prstGeom>
          <a:solidFill>
            <a:srgbClr val="18273D"/>
          </a:solidFill>
          <a:ln w="9525">
            <a:solidFill>
              <a:srgbClr val="24354F"/>
            </a:solidFill>
            <a:prstDash val="solid"/>
          </a:ln>
        </p:spPr>
      </p:sp>
      <p:sp>
        <p:nvSpPr>
          <p:cNvPr id="19" name="Text 17"/>
          <p:cNvSpPr txBox="1"/>
          <p:nvPr/>
        </p:nvSpPr>
        <p:spPr>
          <a:xfrm>
            <a:off x="777240" y="4526280"/>
            <a:ext cx="7315200" cy="320040"/>
          </a:xfrm>
          <a:prstGeom prst="rect">
            <a:avLst/>
          </a:prstGeom>
          <a:noFill/>
          <a:ln/>
        </p:spPr>
        <p:txBody>
          <a:bodyPr wrap="square" lIns="0" tIns="0" rIns="0" bIns="0" rtlCol="0" anchor="ctr"/>
          <a:lstStyle/>
          <a:p>
            <a:pPr indent="0" marL="0">
              <a:buNone/>
            </a:pPr>
            <a:r>
              <a:rPr lang="en-US" sz="1400" b="1" dirty="0">
                <a:solidFill>
                  <a:srgbClr val="7CC4FF"/>
                </a:solidFill>
                <a:latin typeface="Cambria" pitchFamily="34" charset="0"/>
                <a:ea typeface="Cambria" pitchFamily="34" charset="-122"/>
                <a:cs typeface="Cambria" pitchFamily="34" charset="-120"/>
              </a:rPr>
              <a:t>A debugging story, not a tuning story</a:t>
            </a:r>
            <a:endParaRPr lang="en-US" sz="1400" dirty="0"/>
          </a:p>
        </p:txBody>
      </p:sp>
      <p:sp>
        <p:nvSpPr>
          <p:cNvPr id="20" name="Text 18"/>
          <p:cNvSpPr txBox="1"/>
          <p:nvPr/>
        </p:nvSpPr>
        <p:spPr>
          <a:xfrm>
            <a:off x="777240" y="4864608"/>
            <a:ext cx="10652760" cy="1005840"/>
          </a:xfrm>
          <a:prstGeom prst="rect">
            <a:avLst/>
          </a:prstGeom>
          <a:noFill/>
          <a:ln/>
        </p:spPr>
        <p:txBody>
          <a:bodyPr wrap="square" lIns="0" tIns="0" rIns="0" bIns="0" rtlCol="0" anchor="ctr"/>
          <a:lstStyle/>
          <a:p>
            <a:pPr indent="0" marL="0">
              <a:lnSpc>
                <a:spcPct val="120000"/>
              </a:lnSpc>
              <a:buNone/>
            </a:pPr>
            <a:r>
              <a:rPr lang="en-US" sz="1250" dirty="0">
                <a:solidFill>
                  <a:srgbClr val="D5DEEC"/>
                </a:solidFill>
                <a:latin typeface="Calibri" pitchFamily="34" charset="0"/>
                <a:ea typeface="Calibri" pitchFamily="34" charset="-122"/>
                <a:cs typeface="Calibri" pitchFamily="34" charset="-120"/>
              </a:rPr>
              <a:t>My outlier check initially false-flagged ~10% of real readings as defective, because the sensor reports in coarse 0.1°C steps. I found this by validating against real data — not by assuming my code was right — and fixed it down to under 0.3%. That habit of verifying against reality, not just building a plausible-looking model, is the actual point of this project.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8229600" cy="274320"/>
          </a:xfrm>
          <a:prstGeom prst="rect">
            <a:avLst/>
          </a:prstGeom>
          <a:noFill/>
          <a:ln/>
        </p:spPr>
        <p:txBody>
          <a:bodyPr wrap="square" rtlCol="0" anchor="ctr"/>
          <a:lstStyle/>
          <a:p>
            <a:pPr indent="0" marL="0">
              <a:buNone/>
            </a:pPr>
            <a:r>
              <a:rPr lang="en-US" sz="1200" b="1" spc="200" kern="0" dirty="0">
                <a:solidFill>
                  <a:srgbClr val="0B63B6"/>
                </a:solidFill>
                <a:latin typeface="Calibri" pitchFamily="34" charset="0"/>
                <a:ea typeface="Calibri" pitchFamily="34" charset="-122"/>
                <a:cs typeface="Calibri" pitchFamily="34" charset="-120"/>
              </a:rPr>
              <a:t>INDUSTRY VALIDATION</a:t>
            </a:r>
            <a:endParaRPr lang="en-US" sz="1200" dirty="0"/>
          </a:p>
        </p:txBody>
      </p:sp>
      <p:sp>
        <p:nvSpPr>
          <p:cNvPr id="3" name="Text 1"/>
          <p:cNvSpPr txBox="1"/>
          <p:nvPr/>
        </p:nvSpPr>
        <p:spPr>
          <a:xfrm>
            <a:off x="502920" y="548640"/>
            <a:ext cx="11155680" cy="640080"/>
          </a:xfrm>
          <a:prstGeom prst="rect">
            <a:avLst/>
          </a:prstGeom>
          <a:noFill/>
          <a:ln/>
        </p:spPr>
        <p:txBody>
          <a:bodyPr wrap="square" lIns="0" tIns="0" rIns="0" bIns="0" rtlCol="0" anchor="ctr"/>
          <a:lstStyle/>
          <a:p>
            <a:pPr indent="0" marL="0">
              <a:buNone/>
            </a:pPr>
            <a:r>
              <a:rPr lang="en-US" sz="3000" b="1" dirty="0">
                <a:solidFill>
                  <a:srgbClr val="182033"/>
                </a:solidFill>
                <a:latin typeface="Cambria" pitchFamily="34" charset="0"/>
                <a:ea typeface="Cambria" pitchFamily="34" charset="-122"/>
                <a:cs typeface="Cambria" pitchFamily="34" charset="-120"/>
              </a:rPr>
              <a:t>What John Keells Told Us — Confirmed, Not Just Repeated</a:t>
            </a:r>
            <a:endParaRPr lang="en-US" sz="3000" dirty="0"/>
          </a:p>
        </p:txBody>
      </p:sp>
      <p:sp>
        <p:nvSpPr>
          <p:cNvPr id="4" name="Shape 2"/>
          <p:cNvSpPr/>
          <p:nvPr/>
        </p:nvSpPr>
        <p:spPr>
          <a:xfrm>
            <a:off x="502920" y="1920240"/>
            <a:ext cx="3520440" cy="502920"/>
          </a:xfrm>
          <a:prstGeom prst="rect">
            <a:avLst/>
          </a:prstGeom>
          <a:solidFill>
            <a:srgbClr val="0F1B2D"/>
          </a:solidFill>
          <a:ln/>
        </p:spPr>
      </p:sp>
      <p:sp>
        <p:nvSpPr>
          <p:cNvPr id="5" name="Text 3"/>
          <p:cNvSpPr txBox="1"/>
          <p:nvPr/>
        </p:nvSpPr>
        <p:spPr>
          <a:xfrm>
            <a:off x="640080" y="1920240"/>
            <a:ext cx="324612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What John Keells said</a:t>
            </a:r>
            <a:endParaRPr lang="en-US" sz="1250" dirty="0"/>
          </a:p>
        </p:txBody>
      </p:sp>
      <p:sp>
        <p:nvSpPr>
          <p:cNvPr id="6" name="Shape 4"/>
          <p:cNvSpPr/>
          <p:nvPr/>
        </p:nvSpPr>
        <p:spPr>
          <a:xfrm>
            <a:off x="4023360" y="1920240"/>
            <a:ext cx="3520440" cy="502920"/>
          </a:xfrm>
          <a:prstGeom prst="rect">
            <a:avLst/>
          </a:prstGeom>
          <a:solidFill>
            <a:srgbClr val="0F1B2D"/>
          </a:solidFill>
          <a:ln/>
        </p:spPr>
      </p:sp>
      <p:sp>
        <p:nvSpPr>
          <p:cNvPr id="7" name="Text 5"/>
          <p:cNvSpPr txBox="1"/>
          <p:nvPr/>
        </p:nvSpPr>
        <p:spPr>
          <a:xfrm>
            <a:off x="4160520" y="1920240"/>
            <a:ext cx="324612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What the literature confirms</a:t>
            </a:r>
            <a:endParaRPr lang="en-US" sz="1250" dirty="0"/>
          </a:p>
        </p:txBody>
      </p:sp>
      <p:sp>
        <p:nvSpPr>
          <p:cNvPr id="8" name="Shape 6"/>
          <p:cNvSpPr/>
          <p:nvPr/>
        </p:nvSpPr>
        <p:spPr>
          <a:xfrm>
            <a:off x="7543800" y="1920240"/>
            <a:ext cx="4160520" cy="502920"/>
          </a:xfrm>
          <a:prstGeom prst="rect">
            <a:avLst/>
          </a:prstGeom>
          <a:solidFill>
            <a:srgbClr val="0F1B2D"/>
          </a:solidFill>
          <a:ln/>
        </p:spPr>
      </p:sp>
      <p:sp>
        <p:nvSpPr>
          <p:cNvPr id="9" name="Text 7"/>
          <p:cNvSpPr txBox="1"/>
          <p:nvPr/>
        </p:nvSpPr>
        <p:spPr>
          <a:xfrm>
            <a:off x="7680960" y="1920240"/>
            <a:ext cx="388620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What my system actually catches</a:t>
            </a:r>
            <a:endParaRPr lang="en-US" sz="1250" dirty="0"/>
          </a:p>
        </p:txBody>
      </p:sp>
      <p:sp>
        <p:nvSpPr>
          <p:cNvPr id="10" name="Shape 8"/>
          <p:cNvSpPr/>
          <p:nvPr/>
        </p:nvSpPr>
        <p:spPr>
          <a:xfrm>
            <a:off x="502920" y="2423160"/>
            <a:ext cx="3520440" cy="1051560"/>
          </a:xfrm>
          <a:prstGeom prst="rect">
            <a:avLst/>
          </a:prstGeom>
          <a:solidFill>
            <a:srgbClr val="FFFFFF"/>
          </a:solidFill>
          <a:ln w="6350">
            <a:solidFill>
              <a:srgbClr val="DDE3EC"/>
            </a:solidFill>
            <a:prstDash val="solid"/>
          </a:ln>
        </p:spPr>
      </p:sp>
      <p:sp>
        <p:nvSpPr>
          <p:cNvPr id="11" name="Text 9"/>
          <p:cNvSpPr txBox="1"/>
          <p:nvPr/>
        </p:nvSpPr>
        <p:spPr>
          <a:xfrm>
            <a:off x="640080" y="2423160"/>
            <a:ext cx="3246120" cy="1051560"/>
          </a:xfrm>
          <a:prstGeom prst="rect">
            <a:avLst/>
          </a:prstGeom>
          <a:noFill/>
          <a:ln/>
        </p:spPr>
        <p:txBody>
          <a:bodyPr wrap="square" lIns="0" tIns="0" rIns="0" bIns="0" rtlCol="0" anchor="ctr"/>
          <a:lstStyle/>
          <a:p>
            <a:pPr indent="0" marL="0">
              <a:lnSpc>
                <a:spcPct val="105000"/>
              </a:lnSpc>
              <a:buNone/>
            </a:pPr>
            <a:r>
              <a:rPr lang="en-US" sz="1200" dirty="0">
                <a:solidFill>
                  <a:srgbClr val="182033"/>
                </a:solidFill>
                <a:latin typeface="Calibri" pitchFamily="34" charset="0"/>
                <a:ea typeface="Calibri" pitchFamily="34" charset="-122"/>
                <a:cs typeface="Calibri" pitchFamily="34" charset="-120"/>
              </a:rPr>
              <a:t>“Poor sensor calibration causes</a:t>
            </a:r>
            <a:endParaRPr lang="en-US" sz="1200" dirty="0"/>
          </a:p>
          <a:p>
            <a:pPr indent="0" marL="0">
              <a:lnSpc>
                <a:spcPct val="105000"/>
              </a:lnSpc>
              <a:buNone/>
            </a:pPr>
            <a:r>
              <a:rPr lang="en-US" sz="1200" dirty="0">
                <a:solidFill>
                  <a:srgbClr val="182033"/>
                </a:solidFill>
                <a:latin typeface="Calibri" pitchFamily="34" charset="0"/>
                <a:ea typeface="Calibri" pitchFamily="34" charset="-122"/>
                <a:cs typeface="Calibri" pitchFamily="34" charset="-120"/>
              </a:rPr>
              <a:t>inaccurate readings”</a:t>
            </a:r>
            <a:endParaRPr lang="en-US" sz="1200" dirty="0"/>
          </a:p>
        </p:txBody>
      </p:sp>
      <p:sp>
        <p:nvSpPr>
          <p:cNvPr id="12" name="Shape 10"/>
          <p:cNvSpPr/>
          <p:nvPr/>
        </p:nvSpPr>
        <p:spPr>
          <a:xfrm>
            <a:off x="4023360" y="2423160"/>
            <a:ext cx="3520440" cy="1051560"/>
          </a:xfrm>
          <a:prstGeom prst="rect">
            <a:avLst/>
          </a:prstGeom>
          <a:solidFill>
            <a:srgbClr val="FFFFFF"/>
          </a:solidFill>
          <a:ln w="6350">
            <a:solidFill>
              <a:srgbClr val="DDE3EC"/>
            </a:solidFill>
            <a:prstDash val="solid"/>
          </a:ln>
        </p:spPr>
      </p:sp>
      <p:sp>
        <p:nvSpPr>
          <p:cNvPr id="13" name="Text 11"/>
          <p:cNvSpPr txBox="1"/>
          <p:nvPr/>
        </p:nvSpPr>
        <p:spPr>
          <a:xfrm>
            <a:off x="4160520" y="2423160"/>
            <a:ext cx="3246120" cy="1051560"/>
          </a:xfrm>
          <a:prstGeom prst="rect">
            <a:avLst/>
          </a:prstGeom>
          <a:noFill/>
          <a:ln/>
        </p:spPr>
        <p:txBody>
          <a:bodyPr wrap="square" lIns="0" tIns="0" rIns="0" bIns="0" rtlCol="0" anchor="ctr"/>
          <a:lstStyle/>
          <a:p>
            <a:pPr indent="0" marL="0">
              <a:lnSpc>
                <a:spcPct val="105000"/>
              </a:lnSpc>
              <a:buNone/>
            </a:pPr>
            <a:r>
              <a:rPr lang="en-US" sz="1200" dirty="0">
                <a:solidFill>
                  <a:srgbClr val="182033"/>
                </a:solidFill>
                <a:latin typeface="Calibri" pitchFamily="34" charset="0"/>
                <a:ea typeface="Calibri" pitchFamily="34" charset="-122"/>
                <a:cs typeface="Calibri" pitchFamily="34" charset="-120"/>
              </a:rPr>
              <a:t>Outliers/bias/drift are the</a:t>
            </a:r>
            <a:endParaRPr lang="en-US" sz="1200" dirty="0"/>
          </a:p>
          <a:p>
            <a:pPr indent="0" marL="0">
              <a:lnSpc>
                <a:spcPct val="105000"/>
              </a:lnSpc>
              <a:buNone/>
            </a:pPr>
            <a:r>
              <a:rPr lang="en-US" sz="1200" dirty="0">
                <a:solidFill>
                  <a:srgbClr val="182033"/>
                </a:solidFill>
                <a:latin typeface="Calibri" pitchFamily="34" charset="0"/>
                <a:ea typeface="Calibri" pitchFamily="34" charset="-122"/>
                <a:cs typeface="Calibri" pitchFamily="34" charset="-120"/>
              </a:rPr>
              <a:t>most-studied IoT fault categories</a:t>
            </a:r>
            <a:endParaRPr lang="en-US" sz="1200" dirty="0"/>
          </a:p>
        </p:txBody>
      </p:sp>
      <p:sp>
        <p:nvSpPr>
          <p:cNvPr id="14" name="Shape 12"/>
          <p:cNvSpPr/>
          <p:nvPr/>
        </p:nvSpPr>
        <p:spPr>
          <a:xfrm>
            <a:off x="7543800" y="2423160"/>
            <a:ext cx="4160520" cy="1051560"/>
          </a:xfrm>
          <a:prstGeom prst="rect">
            <a:avLst/>
          </a:prstGeom>
          <a:solidFill>
            <a:srgbClr val="FFFFFF"/>
          </a:solidFill>
          <a:ln w="6350">
            <a:solidFill>
              <a:srgbClr val="DDE3EC"/>
            </a:solidFill>
            <a:prstDash val="solid"/>
          </a:ln>
        </p:spPr>
      </p:sp>
      <p:sp>
        <p:nvSpPr>
          <p:cNvPr id="15" name="Text 13"/>
          <p:cNvSpPr txBox="1"/>
          <p:nvPr/>
        </p:nvSpPr>
        <p:spPr>
          <a:xfrm>
            <a:off x="7680960" y="2423160"/>
            <a:ext cx="3886200" cy="1051560"/>
          </a:xfrm>
          <a:prstGeom prst="rect">
            <a:avLst/>
          </a:prstGeom>
          <a:noFill/>
          <a:ln/>
        </p:spPr>
        <p:txBody>
          <a:bodyPr wrap="square" lIns="0" tIns="0" rIns="0" bIns="0" rtlCol="0" anchor="ctr"/>
          <a:lstStyle/>
          <a:p>
            <a:pPr indent="0" marL="0">
              <a:lnSpc>
                <a:spcPct val="105000"/>
              </a:lnSpc>
              <a:buNone/>
            </a:pPr>
            <a:r>
              <a:rPr lang="en-US" sz="1200" b="1" dirty="0">
                <a:solidFill>
                  <a:srgbClr val="14743F"/>
                </a:solidFill>
                <a:latin typeface="Calibri" pitchFamily="34" charset="0"/>
                <a:ea typeface="Calibri" pitchFamily="34" charset="-122"/>
                <a:cs typeface="Calibri" pitchFamily="34" charset="-120"/>
              </a:rPr>
              <a:t>Outlier check — found real</a:t>
            </a:r>
            <a:endParaRPr lang="en-US" sz="1200" dirty="0"/>
          </a:p>
          <a:p>
            <a:pPr indent="0" marL="0">
              <a:lnSpc>
                <a:spcPct val="105000"/>
              </a:lnSpc>
              <a:buNone/>
            </a:pPr>
            <a:r>
              <a:rPr lang="en-US" sz="1200" b="1" dirty="0">
                <a:solidFill>
                  <a:srgbClr val="14743F"/>
                </a:solidFill>
                <a:latin typeface="Calibri" pitchFamily="34" charset="0"/>
                <a:ea typeface="Calibri" pitchFamily="34" charset="-122"/>
                <a:cs typeface="Calibri" pitchFamily="34" charset="-120"/>
              </a:rPr>
              <a:t>glitch readings in the data</a:t>
            </a:r>
            <a:endParaRPr lang="en-US" sz="1200" dirty="0"/>
          </a:p>
        </p:txBody>
      </p:sp>
      <p:sp>
        <p:nvSpPr>
          <p:cNvPr id="16" name="Shape 14"/>
          <p:cNvSpPr/>
          <p:nvPr/>
        </p:nvSpPr>
        <p:spPr>
          <a:xfrm>
            <a:off x="502920" y="3474720"/>
            <a:ext cx="3520440" cy="1051560"/>
          </a:xfrm>
          <a:prstGeom prst="rect">
            <a:avLst/>
          </a:prstGeom>
          <a:solidFill>
            <a:srgbClr val="F4F6F9"/>
          </a:solidFill>
          <a:ln w="6350">
            <a:solidFill>
              <a:srgbClr val="DDE3EC"/>
            </a:solidFill>
            <a:prstDash val="solid"/>
          </a:ln>
        </p:spPr>
      </p:sp>
      <p:sp>
        <p:nvSpPr>
          <p:cNvPr id="17" name="Text 15"/>
          <p:cNvSpPr txBox="1"/>
          <p:nvPr/>
        </p:nvSpPr>
        <p:spPr>
          <a:xfrm>
            <a:off x="640080" y="3474720"/>
            <a:ext cx="3246120" cy="1051560"/>
          </a:xfrm>
          <a:prstGeom prst="rect">
            <a:avLst/>
          </a:prstGeom>
          <a:noFill/>
          <a:ln/>
        </p:spPr>
        <p:txBody>
          <a:bodyPr wrap="square" lIns="0" tIns="0" rIns="0" bIns="0" rtlCol="0" anchor="ctr"/>
          <a:lstStyle/>
          <a:p>
            <a:pPr indent="0" marL="0">
              <a:lnSpc>
                <a:spcPct val="105000"/>
              </a:lnSpc>
              <a:buNone/>
            </a:pPr>
            <a:r>
              <a:rPr lang="en-US" sz="1200" dirty="0">
                <a:solidFill>
                  <a:srgbClr val="182033"/>
                </a:solidFill>
                <a:latin typeface="Calibri" pitchFamily="34" charset="0"/>
                <a:ea typeface="Calibri" pitchFamily="34" charset="-122"/>
                <a:cs typeface="Calibri" pitchFamily="34" charset="-120"/>
              </a:rPr>
              <a:t>“Network errors lead to missing</a:t>
            </a:r>
            <a:endParaRPr lang="en-US" sz="1200" dirty="0"/>
          </a:p>
          <a:p>
            <a:pPr indent="0" marL="0">
              <a:lnSpc>
                <a:spcPct val="105000"/>
              </a:lnSpc>
              <a:buNone/>
            </a:pPr>
            <a:r>
              <a:rPr lang="en-US" sz="1200" dirty="0">
                <a:solidFill>
                  <a:srgbClr val="182033"/>
                </a:solidFill>
                <a:latin typeface="Calibri" pitchFamily="34" charset="0"/>
                <a:ea typeface="Calibri" pitchFamily="34" charset="-122"/>
                <a:cs typeface="Calibri" pitchFamily="34" charset="-120"/>
              </a:rPr>
              <a:t>or delayed data”</a:t>
            </a:r>
            <a:endParaRPr lang="en-US" sz="1200" dirty="0"/>
          </a:p>
        </p:txBody>
      </p:sp>
      <p:sp>
        <p:nvSpPr>
          <p:cNvPr id="18" name="Shape 16"/>
          <p:cNvSpPr/>
          <p:nvPr/>
        </p:nvSpPr>
        <p:spPr>
          <a:xfrm>
            <a:off x="4023360" y="3474720"/>
            <a:ext cx="3520440" cy="1051560"/>
          </a:xfrm>
          <a:prstGeom prst="rect">
            <a:avLst/>
          </a:prstGeom>
          <a:solidFill>
            <a:srgbClr val="F4F6F9"/>
          </a:solidFill>
          <a:ln w="6350">
            <a:solidFill>
              <a:srgbClr val="DDE3EC"/>
            </a:solidFill>
            <a:prstDash val="solid"/>
          </a:ln>
        </p:spPr>
      </p:sp>
      <p:sp>
        <p:nvSpPr>
          <p:cNvPr id="19" name="Text 17"/>
          <p:cNvSpPr txBox="1"/>
          <p:nvPr/>
        </p:nvSpPr>
        <p:spPr>
          <a:xfrm>
            <a:off x="4160520" y="3474720"/>
            <a:ext cx="3246120" cy="1051560"/>
          </a:xfrm>
          <a:prstGeom prst="rect">
            <a:avLst/>
          </a:prstGeom>
          <a:noFill/>
          <a:ln/>
        </p:spPr>
        <p:txBody>
          <a:bodyPr wrap="square" lIns="0" tIns="0" rIns="0" bIns="0" rtlCol="0" anchor="ctr"/>
          <a:lstStyle/>
          <a:p>
            <a:pPr indent="0" marL="0">
              <a:lnSpc>
                <a:spcPct val="105000"/>
              </a:lnSpc>
              <a:buNone/>
            </a:pPr>
            <a:r>
              <a:rPr lang="en-US" sz="1200" dirty="0">
                <a:solidFill>
                  <a:srgbClr val="182033"/>
                </a:solidFill>
                <a:latin typeface="Calibri" pitchFamily="34" charset="0"/>
                <a:ea typeface="Calibri" pitchFamily="34" charset="-122"/>
                <a:cs typeface="Calibri" pitchFamily="34" charset="-120"/>
              </a:rPr>
              <a:t>16.7–29.2% missing-value rates</a:t>
            </a:r>
            <a:endParaRPr lang="en-US" sz="1200" dirty="0"/>
          </a:p>
          <a:p>
            <a:pPr indent="0" marL="0">
              <a:lnSpc>
                <a:spcPct val="105000"/>
              </a:lnSpc>
              <a:buNone/>
            </a:pPr>
            <a:r>
              <a:rPr lang="en-US" sz="1200" dirty="0">
                <a:solidFill>
                  <a:srgbClr val="182033"/>
                </a:solidFill>
                <a:latin typeface="Calibri" pitchFamily="34" charset="0"/>
                <a:ea typeface="Calibri" pitchFamily="34" charset="-122"/>
                <a:cs typeface="Calibri" pitchFamily="34" charset="-120"/>
              </a:rPr>
              <a:t>in real deployments</a:t>
            </a:r>
            <a:endParaRPr lang="en-US" sz="1200" dirty="0"/>
          </a:p>
        </p:txBody>
      </p:sp>
      <p:sp>
        <p:nvSpPr>
          <p:cNvPr id="20" name="Shape 18"/>
          <p:cNvSpPr/>
          <p:nvPr/>
        </p:nvSpPr>
        <p:spPr>
          <a:xfrm>
            <a:off x="7543800" y="3474720"/>
            <a:ext cx="4160520" cy="1051560"/>
          </a:xfrm>
          <a:prstGeom prst="rect">
            <a:avLst/>
          </a:prstGeom>
          <a:solidFill>
            <a:srgbClr val="F4F6F9"/>
          </a:solidFill>
          <a:ln w="6350">
            <a:solidFill>
              <a:srgbClr val="DDE3EC"/>
            </a:solidFill>
            <a:prstDash val="solid"/>
          </a:ln>
        </p:spPr>
      </p:sp>
      <p:sp>
        <p:nvSpPr>
          <p:cNvPr id="21" name="Text 19"/>
          <p:cNvSpPr txBox="1"/>
          <p:nvPr/>
        </p:nvSpPr>
        <p:spPr>
          <a:xfrm>
            <a:off x="7680960" y="3474720"/>
            <a:ext cx="3886200" cy="1051560"/>
          </a:xfrm>
          <a:prstGeom prst="rect">
            <a:avLst/>
          </a:prstGeom>
          <a:noFill/>
          <a:ln/>
        </p:spPr>
        <p:txBody>
          <a:bodyPr wrap="square" lIns="0" tIns="0" rIns="0" bIns="0" rtlCol="0" anchor="ctr"/>
          <a:lstStyle/>
          <a:p>
            <a:pPr indent="0" marL="0">
              <a:lnSpc>
                <a:spcPct val="105000"/>
              </a:lnSpc>
              <a:buNone/>
            </a:pPr>
            <a:r>
              <a:rPr lang="en-US" sz="1200" b="1" dirty="0">
                <a:solidFill>
                  <a:srgbClr val="14743F"/>
                </a:solidFill>
                <a:latin typeface="Calibri" pitchFamily="34" charset="0"/>
                <a:ea typeface="Calibri" pitchFamily="34" charset="-122"/>
                <a:cs typeface="Calibri" pitchFamily="34" charset="-120"/>
              </a:rPr>
              <a:t>Missing-data check — 2,038</a:t>
            </a:r>
            <a:endParaRPr lang="en-US" sz="1200" dirty="0"/>
          </a:p>
          <a:p>
            <a:pPr indent="0" marL="0">
              <a:lnSpc>
                <a:spcPct val="105000"/>
              </a:lnSpc>
              <a:buNone/>
            </a:pPr>
            <a:r>
              <a:rPr lang="en-US" sz="1200" b="1" dirty="0">
                <a:solidFill>
                  <a:srgbClr val="14743F"/>
                </a:solidFill>
                <a:latin typeface="Calibri" pitchFamily="34" charset="0"/>
                <a:ea typeface="Calibri" pitchFamily="34" charset="-122"/>
                <a:cs typeface="Calibri" pitchFamily="34" charset="-120"/>
              </a:rPr>
              <a:t>real gap events found</a:t>
            </a:r>
            <a:endParaRPr lang="en-US" sz="1200" dirty="0"/>
          </a:p>
        </p:txBody>
      </p:sp>
      <p:sp>
        <p:nvSpPr>
          <p:cNvPr id="22" name="Shape 20"/>
          <p:cNvSpPr/>
          <p:nvPr/>
        </p:nvSpPr>
        <p:spPr>
          <a:xfrm>
            <a:off x="502920" y="4526280"/>
            <a:ext cx="3520440" cy="1051560"/>
          </a:xfrm>
          <a:prstGeom prst="rect">
            <a:avLst/>
          </a:prstGeom>
          <a:solidFill>
            <a:srgbClr val="FFFFFF"/>
          </a:solidFill>
          <a:ln w="6350">
            <a:solidFill>
              <a:srgbClr val="DDE3EC"/>
            </a:solidFill>
            <a:prstDash val="solid"/>
          </a:ln>
        </p:spPr>
      </p:sp>
      <p:sp>
        <p:nvSpPr>
          <p:cNvPr id="23" name="Text 21"/>
          <p:cNvSpPr txBox="1"/>
          <p:nvPr/>
        </p:nvSpPr>
        <p:spPr>
          <a:xfrm>
            <a:off x="640080" y="4526280"/>
            <a:ext cx="3246120" cy="1051560"/>
          </a:xfrm>
          <a:prstGeom prst="rect">
            <a:avLst/>
          </a:prstGeom>
          <a:noFill/>
          <a:ln/>
        </p:spPr>
        <p:txBody>
          <a:bodyPr wrap="square" lIns="0" tIns="0" rIns="0" bIns="0" rtlCol="0" anchor="ctr"/>
          <a:lstStyle/>
          <a:p>
            <a:pPr indent="0" marL="0">
              <a:lnSpc>
                <a:spcPct val="105000"/>
              </a:lnSpc>
              <a:buNone/>
            </a:pPr>
            <a:r>
              <a:rPr lang="en-US" sz="1200" dirty="0">
                <a:solidFill>
                  <a:srgbClr val="182033"/>
                </a:solidFill>
                <a:latin typeface="Calibri" pitchFamily="34" charset="0"/>
                <a:ea typeface="Calibri" pitchFamily="34" charset="-122"/>
                <a:cs typeface="Calibri" pitchFamily="34" charset="-120"/>
              </a:rPr>
              <a:t>“Difficult to separate sensor</a:t>
            </a:r>
            <a:endParaRPr lang="en-US" sz="1200" dirty="0"/>
          </a:p>
          <a:p>
            <a:pPr indent="0" marL="0">
              <a:lnSpc>
                <a:spcPct val="105000"/>
              </a:lnSpc>
              <a:buNone/>
            </a:pPr>
            <a:r>
              <a:rPr lang="en-US" sz="1200" dirty="0">
                <a:solidFill>
                  <a:srgbClr val="182033"/>
                </a:solidFill>
                <a:latin typeface="Calibri" pitchFamily="34" charset="0"/>
                <a:ea typeface="Calibri" pitchFamily="34" charset="-122"/>
                <a:cs typeface="Calibri" pitchFamily="34" charset="-120"/>
              </a:rPr>
              <a:t>faults from real temperature issues”</a:t>
            </a:r>
            <a:endParaRPr lang="en-US" sz="1200" dirty="0"/>
          </a:p>
        </p:txBody>
      </p:sp>
      <p:sp>
        <p:nvSpPr>
          <p:cNvPr id="24" name="Shape 22"/>
          <p:cNvSpPr/>
          <p:nvPr/>
        </p:nvSpPr>
        <p:spPr>
          <a:xfrm>
            <a:off x="4023360" y="4526280"/>
            <a:ext cx="3520440" cy="1051560"/>
          </a:xfrm>
          <a:prstGeom prst="rect">
            <a:avLst/>
          </a:prstGeom>
          <a:solidFill>
            <a:srgbClr val="FFFFFF"/>
          </a:solidFill>
          <a:ln w="6350">
            <a:solidFill>
              <a:srgbClr val="DDE3EC"/>
            </a:solidFill>
            <a:prstDash val="solid"/>
          </a:ln>
        </p:spPr>
      </p:sp>
      <p:sp>
        <p:nvSpPr>
          <p:cNvPr id="25" name="Text 23"/>
          <p:cNvSpPr txBox="1"/>
          <p:nvPr/>
        </p:nvSpPr>
        <p:spPr>
          <a:xfrm>
            <a:off x="4160520" y="4526280"/>
            <a:ext cx="3246120" cy="1051560"/>
          </a:xfrm>
          <a:prstGeom prst="rect">
            <a:avLst/>
          </a:prstGeom>
          <a:noFill/>
          <a:ln/>
        </p:spPr>
        <p:txBody>
          <a:bodyPr wrap="square" lIns="0" tIns="0" rIns="0" bIns="0" rtlCol="0" anchor="ctr"/>
          <a:lstStyle/>
          <a:p>
            <a:pPr indent="0" marL="0">
              <a:lnSpc>
                <a:spcPct val="105000"/>
              </a:lnSpc>
              <a:buNone/>
            </a:pPr>
            <a:r>
              <a:rPr lang="en-US" sz="1200" dirty="0">
                <a:solidFill>
                  <a:srgbClr val="182033"/>
                </a:solidFill>
                <a:latin typeface="Calibri" pitchFamily="34" charset="0"/>
                <a:ea typeface="Calibri" pitchFamily="34" charset="-122"/>
                <a:cs typeface="Calibri" pitchFamily="34" charset="-120"/>
              </a:rPr>
              <a:t>Named as an open problem in</a:t>
            </a:r>
            <a:endParaRPr lang="en-US" sz="1200" dirty="0"/>
          </a:p>
          <a:p>
            <a:pPr indent="0" marL="0">
              <a:lnSpc>
                <a:spcPct val="105000"/>
              </a:lnSpc>
              <a:buNone/>
            </a:pPr>
            <a:r>
              <a:rPr lang="en-US" sz="1200" dirty="0">
                <a:solidFill>
                  <a:srgbClr val="182033"/>
                </a:solidFill>
                <a:latin typeface="Calibri" pitchFamily="34" charset="0"/>
                <a:ea typeface="Calibri" pitchFamily="34" charset="-122"/>
                <a:cs typeface="Calibri" pitchFamily="34" charset="-120"/>
              </a:rPr>
              <a:t>IoT data-quality research</a:t>
            </a:r>
            <a:endParaRPr lang="en-US" sz="1200" dirty="0"/>
          </a:p>
        </p:txBody>
      </p:sp>
      <p:sp>
        <p:nvSpPr>
          <p:cNvPr id="26" name="Shape 24"/>
          <p:cNvSpPr/>
          <p:nvPr/>
        </p:nvSpPr>
        <p:spPr>
          <a:xfrm>
            <a:off x="7543800" y="4526280"/>
            <a:ext cx="4160520" cy="1051560"/>
          </a:xfrm>
          <a:prstGeom prst="rect">
            <a:avLst/>
          </a:prstGeom>
          <a:solidFill>
            <a:srgbClr val="FFFFFF"/>
          </a:solidFill>
          <a:ln w="6350">
            <a:solidFill>
              <a:srgbClr val="DDE3EC"/>
            </a:solidFill>
            <a:prstDash val="solid"/>
          </a:ln>
        </p:spPr>
      </p:sp>
      <p:sp>
        <p:nvSpPr>
          <p:cNvPr id="27" name="Text 25"/>
          <p:cNvSpPr txBox="1"/>
          <p:nvPr/>
        </p:nvSpPr>
        <p:spPr>
          <a:xfrm>
            <a:off x="7680960" y="4526280"/>
            <a:ext cx="3886200" cy="1051560"/>
          </a:xfrm>
          <a:prstGeom prst="rect">
            <a:avLst/>
          </a:prstGeom>
          <a:noFill/>
          <a:ln/>
        </p:spPr>
        <p:txBody>
          <a:bodyPr wrap="square" lIns="0" tIns="0" rIns="0" bIns="0" rtlCol="0" anchor="ctr"/>
          <a:lstStyle/>
          <a:p>
            <a:pPr indent="0" marL="0">
              <a:lnSpc>
                <a:spcPct val="105000"/>
              </a:lnSpc>
              <a:buNone/>
            </a:pPr>
            <a:r>
              <a:rPr lang="en-US" sz="1200" b="1" dirty="0">
                <a:solidFill>
                  <a:srgbClr val="14743F"/>
                </a:solidFill>
                <a:latin typeface="Calibri" pitchFamily="34" charset="0"/>
                <a:ea typeface="Calibri" pitchFamily="34" charset="-122"/>
                <a:cs typeface="Calibri" pitchFamily="34" charset="-120"/>
              </a:rPr>
              <a:t>Drift check — plus one</a:t>
            </a:r>
            <a:endParaRPr lang="en-US" sz="1200" dirty="0"/>
          </a:p>
          <a:p>
            <a:pPr indent="0" marL="0">
              <a:lnSpc>
                <a:spcPct val="105000"/>
              </a:lnSpc>
              <a:buNone/>
            </a:pPr>
            <a:r>
              <a:rPr lang="en-US" sz="1200" b="1" dirty="0">
                <a:solidFill>
                  <a:srgbClr val="14743F"/>
                </a:solidFill>
                <a:latin typeface="Calibri" pitchFamily="34" charset="0"/>
                <a:ea typeface="Calibri" pitchFamily="34" charset="-122"/>
                <a:cs typeface="Calibri" pitchFamily="34" charset="-120"/>
              </a:rPr>
              <a:t>documented, named blind spot</a:t>
            </a:r>
            <a:endParaRPr lang="en-US" sz="1200" dirty="0"/>
          </a:p>
        </p:txBody>
      </p:sp>
      <p:sp>
        <p:nvSpPr>
          <p:cNvPr id="28" name="Text 26"/>
          <p:cNvSpPr txBox="1"/>
          <p:nvPr/>
        </p:nvSpPr>
        <p:spPr>
          <a:xfrm>
            <a:off x="502920" y="6510528"/>
            <a:ext cx="11155680" cy="274320"/>
          </a:xfrm>
          <a:prstGeom prst="rect">
            <a:avLst/>
          </a:prstGeom>
          <a:noFill/>
          <a:ln/>
        </p:spPr>
        <p:txBody>
          <a:bodyPr wrap="square" lIns="0" tIns="0" rIns="0" bIns="0" rtlCol="0" anchor="ctr"/>
          <a:lstStyle/>
          <a:p>
            <a:pPr indent="0" marL="0">
              <a:buNone/>
            </a:pPr>
            <a:r>
              <a:rPr lang="en-US" sz="900" i="1" dirty="0">
                <a:solidFill>
                  <a:srgbClr val="5B6577"/>
                </a:solidFill>
                <a:latin typeface="Calibri" pitchFamily="34" charset="0"/>
                <a:ea typeface="Calibri" pitchFamily="34" charset="-122"/>
                <a:cs typeface="Calibri" pitchFamily="34" charset="-120"/>
              </a:rPr>
              <a:t>Three failure modes named in an unstructured industry conversation — all three independently confirmed in literature, and all three caught by name in my own system.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8229600" cy="274320"/>
          </a:xfrm>
          <a:prstGeom prst="rect">
            <a:avLst/>
          </a:prstGeom>
          <a:noFill/>
          <a:ln/>
        </p:spPr>
        <p:txBody>
          <a:bodyPr wrap="square" rtlCol="0" anchor="ctr"/>
          <a:lstStyle/>
          <a:p>
            <a:pPr indent="0" marL="0">
              <a:buNone/>
            </a:pPr>
            <a:r>
              <a:rPr lang="en-US" sz="1200" b="1" spc="200" kern="0" dirty="0">
                <a:solidFill>
                  <a:srgbClr val="0B63B6"/>
                </a:solidFill>
                <a:latin typeface="Calibri" pitchFamily="34" charset="0"/>
                <a:ea typeface="Calibri" pitchFamily="34" charset="-122"/>
                <a:cs typeface="Calibri" pitchFamily="34" charset="-120"/>
              </a:rPr>
              <a:t>PROGRESS SINCE PROPOSAL</a:t>
            </a:r>
            <a:endParaRPr lang="en-US" sz="1200" dirty="0"/>
          </a:p>
        </p:txBody>
      </p:sp>
      <p:sp>
        <p:nvSpPr>
          <p:cNvPr id="3" name="Text 1"/>
          <p:cNvSpPr txBox="1"/>
          <p:nvPr/>
        </p:nvSpPr>
        <p:spPr>
          <a:xfrm>
            <a:off x="502920" y="548640"/>
            <a:ext cx="11155680" cy="640080"/>
          </a:xfrm>
          <a:prstGeom prst="rect">
            <a:avLst/>
          </a:prstGeom>
          <a:noFill/>
          <a:ln/>
        </p:spPr>
        <p:txBody>
          <a:bodyPr wrap="square" lIns="0" tIns="0" rIns="0" bIns="0" rtlCol="0" anchor="ctr"/>
          <a:lstStyle/>
          <a:p>
            <a:pPr indent="0" marL="0">
              <a:buNone/>
            </a:pPr>
            <a:r>
              <a:rPr lang="en-US" sz="3000" b="1" dirty="0">
                <a:solidFill>
                  <a:srgbClr val="182033"/>
                </a:solidFill>
                <a:latin typeface="Cambria" pitchFamily="34" charset="0"/>
                <a:ea typeface="Cambria" pitchFamily="34" charset="-122"/>
                <a:cs typeface="Cambria" pitchFamily="34" charset="-120"/>
              </a:rPr>
              <a:t>The Architecture Diagram, Built — Box by Box</a:t>
            </a:r>
            <a:endParaRPr lang="en-US" sz="3000" dirty="0"/>
          </a:p>
        </p:txBody>
      </p:sp>
      <p:sp>
        <p:nvSpPr>
          <p:cNvPr id="4" name="Shape 2"/>
          <p:cNvSpPr/>
          <p:nvPr/>
        </p:nvSpPr>
        <p:spPr>
          <a:xfrm>
            <a:off x="502920" y="2057400"/>
            <a:ext cx="1691640" cy="1051560"/>
          </a:xfrm>
          <a:prstGeom prst="roundRect">
            <a:avLst>
              <a:gd name="adj" fmla="val 6957"/>
            </a:avLst>
          </a:prstGeom>
          <a:solidFill>
            <a:srgbClr val="F4F6F9"/>
          </a:solidFill>
          <a:ln w="15875">
            <a:solidFill>
              <a:srgbClr val="0B63B6"/>
            </a:solidFill>
            <a:prstDash val="solid"/>
          </a:ln>
        </p:spPr>
      </p:sp>
      <p:sp>
        <p:nvSpPr>
          <p:cNvPr id="5" name="Text 3"/>
          <p:cNvSpPr txBox="1"/>
          <p:nvPr/>
        </p:nvSpPr>
        <p:spPr>
          <a:xfrm>
            <a:off x="576072" y="2148840"/>
            <a:ext cx="1545336" cy="525780"/>
          </a:xfrm>
          <a:prstGeom prst="rect">
            <a:avLst/>
          </a:prstGeom>
          <a:noFill/>
          <a:ln/>
        </p:spPr>
        <p:txBody>
          <a:bodyPr wrap="square" lIns="0" tIns="0" rIns="0" bIns="0" rtlCol="0" anchor="ctr"/>
          <a:lstStyle/>
          <a:p>
            <a:pPr algn="ctr" indent="0" marL="0">
              <a:buNone/>
            </a:pPr>
            <a:r>
              <a:rPr lang="en-US" sz="1150" b="1" dirty="0">
                <a:solidFill>
                  <a:srgbClr val="182033"/>
                </a:solidFill>
                <a:latin typeface="Calibri" pitchFamily="34" charset="0"/>
                <a:ea typeface="Calibri" pitchFamily="34" charset="-122"/>
                <a:cs typeface="Calibri" pitchFamily="34" charset="-120"/>
              </a:rPr>
              <a:t>IoT Sensors</a:t>
            </a:r>
            <a:endParaRPr lang="en-US" sz="1150" dirty="0"/>
          </a:p>
        </p:txBody>
      </p:sp>
      <p:sp>
        <p:nvSpPr>
          <p:cNvPr id="6" name="Text 4"/>
          <p:cNvSpPr txBox="1"/>
          <p:nvPr/>
        </p:nvSpPr>
        <p:spPr>
          <a:xfrm>
            <a:off x="576072" y="2635758"/>
            <a:ext cx="1545336" cy="441655"/>
          </a:xfrm>
          <a:prstGeom prst="rect">
            <a:avLst/>
          </a:prstGeom>
          <a:noFill/>
          <a:ln/>
        </p:spPr>
        <p:txBody>
          <a:bodyPr wrap="square" lIns="0" tIns="0" rIns="0" bIns="0" rtlCol="0" anchor="ctr"/>
          <a:lstStyle/>
          <a:p>
            <a:pPr algn="ctr" indent="0" marL="0">
              <a:buNone/>
            </a:pPr>
            <a:r>
              <a:rPr lang="en-US" sz="1000" dirty="0">
                <a:solidFill>
                  <a:srgbClr val="0B63B6"/>
                </a:solidFill>
                <a:latin typeface="Calibri" pitchFamily="34" charset="0"/>
                <a:ea typeface="Calibri" pitchFamily="34" charset="-122"/>
                <a:cs typeface="Calibri" pitchFamily="34" charset="-120"/>
              </a:rPr>
              <a:t>Sensor Data</a:t>
            </a:r>
            <a:endParaRPr lang="en-US" sz="1000" dirty="0"/>
          </a:p>
          <a:p>
            <a:pPr algn="ctr" indent="0" marL="0">
              <a:buNone/>
            </a:pPr>
            <a:r>
              <a:rPr lang="en-US" sz="1000" dirty="0">
                <a:solidFill>
                  <a:srgbClr val="0B63B6"/>
                </a:solidFill>
                <a:latin typeface="Calibri" pitchFamily="34" charset="0"/>
                <a:ea typeface="Calibri" pitchFamily="34" charset="-122"/>
                <a:cs typeface="Calibri" pitchFamily="34" charset="-120"/>
              </a:rPr>
              <a:t>Stream</a:t>
            </a:r>
            <a:endParaRPr lang="en-US" sz="1000" dirty="0"/>
          </a:p>
        </p:txBody>
      </p:sp>
      <p:sp>
        <p:nvSpPr>
          <p:cNvPr id="7" name="Text 5"/>
          <p:cNvSpPr txBox="1"/>
          <p:nvPr/>
        </p:nvSpPr>
        <p:spPr>
          <a:xfrm>
            <a:off x="2194560" y="2372868"/>
            <a:ext cx="210312" cy="420624"/>
          </a:xfrm>
          <a:prstGeom prst="rect">
            <a:avLst/>
          </a:prstGeom>
          <a:noFill/>
          <a:ln/>
        </p:spPr>
        <p:txBody>
          <a:bodyPr wrap="square" lIns="0" tIns="0" rIns="0" bIns="0" rtlCol="0" anchor="ctr"/>
          <a:lstStyle/>
          <a:p>
            <a:pPr algn="ctr" indent="0" marL="0">
              <a:buNone/>
            </a:pPr>
            <a:r>
              <a:rPr lang="en-US" sz="1800" dirty="0">
                <a:solidFill>
                  <a:srgbClr val="5B6577"/>
                </a:solidFill>
                <a:latin typeface="Arial" pitchFamily="34" charset="0"/>
                <a:ea typeface="Arial" pitchFamily="34" charset="-122"/>
                <a:cs typeface="Arial" pitchFamily="34" charset="-120"/>
              </a:rPr>
              <a:t>→</a:t>
            </a:r>
            <a:endParaRPr lang="en-US" sz="1800" dirty="0"/>
          </a:p>
        </p:txBody>
      </p:sp>
      <p:sp>
        <p:nvSpPr>
          <p:cNvPr id="8" name="Shape 6"/>
          <p:cNvSpPr/>
          <p:nvPr/>
        </p:nvSpPr>
        <p:spPr>
          <a:xfrm>
            <a:off x="2404872" y="2057400"/>
            <a:ext cx="1691640" cy="1051560"/>
          </a:xfrm>
          <a:prstGeom prst="roundRect">
            <a:avLst>
              <a:gd name="adj" fmla="val 6957"/>
            </a:avLst>
          </a:prstGeom>
          <a:solidFill>
            <a:srgbClr val="F4F6F9"/>
          </a:solidFill>
          <a:ln w="15875">
            <a:solidFill>
              <a:srgbClr val="14743F"/>
            </a:solidFill>
            <a:prstDash val="solid"/>
          </a:ln>
        </p:spPr>
      </p:sp>
      <p:sp>
        <p:nvSpPr>
          <p:cNvPr id="9" name="Text 7"/>
          <p:cNvSpPr txBox="1"/>
          <p:nvPr/>
        </p:nvSpPr>
        <p:spPr>
          <a:xfrm>
            <a:off x="2478024" y="2148840"/>
            <a:ext cx="1545336" cy="525780"/>
          </a:xfrm>
          <a:prstGeom prst="rect">
            <a:avLst/>
          </a:prstGeom>
          <a:noFill/>
          <a:ln/>
        </p:spPr>
        <p:txBody>
          <a:bodyPr wrap="square" lIns="0" tIns="0" rIns="0" bIns="0" rtlCol="0" anchor="ctr"/>
          <a:lstStyle/>
          <a:p>
            <a:pPr algn="ctr" indent="0" marL="0">
              <a:buNone/>
            </a:pPr>
            <a:r>
              <a:rPr lang="en-US" sz="1150" b="1" dirty="0">
                <a:solidFill>
                  <a:srgbClr val="182033"/>
                </a:solidFill>
                <a:latin typeface="Calibri" pitchFamily="34" charset="0"/>
                <a:ea typeface="Calibri" pitchFamily="34" charset="-122"/>
                <a:cs typeface="Calibri" pitchFamily="34" charset="-120"/>
              </a:rPr>
              <a:t>Data Quality</a:t>
            </a:r>
            <a:endParaRPr lang="en-US" sz="1150" dirty="0"/>
          </a:p>
          <a:p>
            <a:pPr algn="ctr" indent="0" marL="0">
              <a:buNone/>
            </a:pPr>
            <a:r>
              <a:rPr lang="en-US" sz="1150" b="1" dirty="0">
                <a:solidFill>
                  <a:srgbClr val="182033"/>
                </a:solidFill>
                <a:latin typeface="Calibri" pitchFamily="34" charset="0"/>
                <a:ea typeface="Calibri" pitchFamily="34" charset="-122"/>
                <a:cs typeface="Calibri" pitchFamily="34" charset="-120"/>
              </a:rPr>
              <a:t>Layer</a:t>
            </a:r>
            <a:endParaRPr lang="en-US" sz="1150" dirty="0"/>
          </a:p>
        </p:txBody>
      </p:sp>
      <p:sp>
        <p:nvSpPr>
          <p:cNvPr id="10" name="Text 8"/>
          <p:cNvSpPr txBox="1"/>
          <p:nvPr/>
        </p:nvSpPr>
        <p:spPr>
          <a:xfrm>
            <a:off x="2478024" y="2635758"/>
            <a:ext cx="1545336" cy="441655"/>
          </a:xfrm>
          <a:prstGeom prst="rect">
            <a:avLst/>
          </a:prstGeom>
          <a:noFill/>
          <a:ln/>
        </p:spPr>
        <p:txBody>
          <a:bodyPr wrap="square" lIns="0" tIns="0" rIns="0" bIns="0" rtlCol="0" anchor="ctr"/>
          <a:lstStyle/>
          <a:p>
            <a:pPr algn="ctr" indent="0" marL="0">
              <a:buNone/>
            </a:pPr>
            <a:r>
              <a:rPr lang="en-US" sz="1000" dirty="0">
                <a:solidFill>
                  <a:srgbClr val="14743F"/>
                </a:solidFill>
                <a:latin typeface="Calibri" pitchFamily="34" charset="0"/>
                <a:ea typeface="Calibri" pitchFamily="34" charset="-122"/>
                <a:cs typeface="Calibri" pitchFamily="34" charset="-120"/>
              </a:rPr>
              <a:t>4 checks +</a:t>
            </a:r>
            <a:endParaRPr lang="en-US" sz="1000" dirty="0"/>
          </a:p>
          <a:p>
            <a:pPr algn="ctr" indent="0" marL="0">
              <a:buNone/>
            </a:pPr>
            <a:r>
              <a:rPr lang="en-US" sz="1000" dirty="0">
                <a:solidFill>
                  <a:srgbClr val="14743F"/>
                </a:solidFill>
                <a:latin typeface="Calibri" pitchFamily="34" charset="0"/>
                <a:ea typeface="Calibri" pitchFamily="34" charset="-122"/>
                <a:cs typeface="Calibri" pitchFamily="34" charset="-120"/>
              </a:rPr>
              <a:t>trust score</a:t>
            </a:r>
            <a:endParaRPr lang="en-US" sz="1000" dirty="0"/>
          </a:p>
        </p:txBody>
      </p:sp>
      <p:sp>
        <p:nvSpPr>
          <p:cNvPr id="11" name="Text 9"/>
          <p:cNvSpPr txBox="1"/>
          <p:nvPr/>
        </p:nvSpPr>
        <p:spPr>
          <a:xfrm>
            <a:off x="4096512" y="2372868"/>
            <a:ext cx="210312" cy="420624"/>
          </a:xfrm>
          <a:prstGeom prst="rect">
            <a:avLst/>
          </a:prstGeom>
          <a:noFill/>
          <a:ln/>
        </p:spPr>
        <p:txBody>
          <a:bodyPr wrap="square" lIns="0" tIns="0" rIns="0" bIns="0" rtlCol="0" anchor="ctr"/>
          <a:lstStyle/>
          <a:p>
            <a:pPr algn="ctr" indent="0" marL="0">
              <a:buNone/>
            </a:pPr>
            <a:r>
              <a:rPr lang="en-US" sz="1800" dirty="0">
                <a:solidFill>
                  <a:srgbClr val="5B6577"/>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4306824" y="2057400"/>
            <a:ext cx="1691640" cy="1051560"/>
          </a:xfrm>
          <a:prstGeom prst="roundRect">
            <a:avLst>
              <a:gd name="adj" fmla="val 6957"/>
            </a:avLst>
          </a:prstGeom>
          <a:solidFill>
            <a:srgbClr val="F4F6F9"/>
          </a:solidFill>
          <a:ln w="15875">
            <a:solidFill>
              <a:srgbClr val="0B63B6"/>
            </a:solidFill>
            <a:prstDash val="solid"/>
          </a:ln>
        </p:spPr>
      </p:sp>
      <p:sp>
        <p:nvSpPr>
          <p:cNvPr id="13" name="Text 11"/>
          <p:cNvSpPr txBox="1"/>
          <p:nvPr/>
        </p:nvSpPr>
        <p:spPr>
          <a:xfrm>
            <a:off x="4379976" y="2148840"/>
            <a:ext cx="1545336" cy="525780"/>
          </a:xfrm>
          <a:prstGeom prst="rect">
            <a:avLst/>
          </a:prstGeom>
          <a:noFill/>
          <a:ln/>
        </p:spPr>
        <p:txBody>
          <a:bodyPr wrap="square" lIns="0" tIns="0" rIns="0" bIns="0" rtlCol="0" anchor="ctr"/>
          <a:lstStyle/>
          <a:p>
            <a:pPr algn="ctr" indent="0" marL="0">
              <a:buNone/>
            </a:pPr>
            <a:r>
              <a:rPr lang="en-US" sz="1150" b="1" dirty="0">
                <a:solidFill>
                  <a:srgbClr val="182033"/>
                </a:solidFill>
                <a:latin typeface="Calibri" pitchFamily="34" charset="0"/>
                <a:ea typeface="Calibri" pitchFamily="34" charset="-122"/>
                <a:cs typeface="Calibri" pitchFamily="34" charset="-120"/>
              </a:rPr>
              <a:t>Enterprise</a:t>
            </a:r>
            <a:endParaRPr lang="en-US" sz="1150" dirty="0"/>
          </a:p>
          <a:p>
            <a:pPr algn="ctr" indent="0" marL="0">
              <a:buNone/>
            </a:pPr>
            <a:r>
              <a:rPr lang="en-US" sz="1150" b="1" dirty="0">
                <a:solidFill>
                  <a:srgbClr val="182033"/>
                </a:solidFill>
                <a:latin typeface="Calibri" pitchFamily="34" charset="0"/>
                <a:ea typeface="Calibri" pitchFamily="34" charset="-122"/>
                <a:cs typeface="Calibri" pitchFamily="34" charset="-120"/>
              </a:rPr>
              <a:t>Data Lake</a:t>
            </a:r>
            <a:endParaRPr lang="en-US" sz="1150" dirty="0"/>
          </a:p>
        </p:txBody>
      </p:sp>
      <p:sp>
        <p:nvSpPr>
          <p:cNvPr id="14" name="Text 12"/>
          <p:cNvSpPr txBox="1"/>
          <p:nvPr/>
        </p:nvSpPr>
        <p:spPr>
          <a:xfrm>
            <a:off x="4379976" y="2635758"/>
            <a:ext cx="1545336" cy="441655"/>
          </a:xfrm>
          <a:prstGeom prst="rect">
            <a:avLst/>
          </a:prstGeom>
          <a:noFill/>
          <a:ln/>
        </p:spPr>
        <p:txBody>
          <a:bodyPr wrap="square" lIns="0" tIns="0" rIns="0" bIns="0" rtlCol="0" anchor="ctr"/>
          <a:lstStyle/>
          <a:p>
            <a:pPr algn="ctr" indent="0" marL="0">
              <a:buNone/>
            </a:pPr>
            <a:r>
              <a:rPr lang="en-US" sz="1000" dirty="0">
                <a:solidFill>
                  <a:srgbClr val="0B63B6"/>
                </a:solidFill>
                <a:latin typeface="Calibri" pitchFamily="34" charset="0"/>
                <a:ea typeface="Calibri" pitchFamily="34" charset="-122"/>
                <a:cs typeface="Calibri" pitchFamily="34" charset="-120"/>
              </a:rPr>
              <a:t>Postgres /</a:t>
            </a:r>
            <a:endParaRPr lang="en-US" sz="1000" dirty="0"/>
          </a:p>
          <a:p>
            <a:pPr algn="ctr" indent="0" marL="0">
              <a:buNone/>
            </a:pPr>
            <a:r>
              <a:rPr lang="en-US" sz="1000" dirty="0">
                <a:solidFill>
                  <a:srgbClr val="0B63B6"/>
                </a:solidFill>
                <a:latin typeface="Calibri" pitchFamily="34" charset="0"/>
                <a:ea typeface="Calibri" pitchFamily="34" charset="-122"/>
                <a:cs typeface="Calibri" pitchFamily="34" charset="-120"/>
              </a:rPr>
              <a:t>TimescaleDB</a:t>
            </a:r>
            <a:endParaRPr lang="en-US" sz="1000" dirty="0"/>
          </a:p>
        </p:txBody>
      </p:sp>
      <p:sp>
        <p:nvSpPr>
          <p:cNvPr id="15" name="Text 13"/>
          <p:cNvSpPr txBox="1"/>
          <p:nvPr/>
        </p:nvSpPr>
        <p:spPr>
          <a:xfrm>
            <a:off x="5998464" y="2372868"/>
            <a:ext cx="210312" cy="420624"/>
          </a:xfrm>
          <a:prstGeom prst="rect">
            <a:avLst/>
          </a:prstGeom>
          <a:noFill/>
          <a:ln/>
        </p:spPr>
        <p:txBody>
          <a:bodyPr wrap="square" lIns="0" tIns="0" rIns="0" bIns="0" rtlCol="0" anchor="ctr"/>
          <a:lstStyle/>
          <a:p>
            <a:pPr algn="ctr" indent="0" marL="0">
              <a:buNone/>
            </a:pPr>
            <a:r>
              <a:rPr lang="en-US" sz="1800" dirty="0">
                <a:solidFill>
                  <a:srgbClr val="5B6577"/>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6208776" y="2057400"/>
            <a:ext cx="1691640" cy="1051560"/>
          </a:xfrm>
          <a:prstGeom prst="roundRect">
            <a:avLst>
              <a:gd name="adj" fmla="val 6957"/>
            </a:avLst>
          </a:prstGeom>
          <a:solidFill>
            <a:srgbClr val="F4F6F9"/>
          </a:solidFill>
          <a:ln w="15875">
            <a:solidFill>
              <a:srgbClr val="14743F"/>
            </a:solidFill>
            <a:prstDash val="solid"/>
          </a:ln>
        </p:spPr>
      </p:sp>
      <p:sp>
        <p:nvSpPr>
          <p:cNvPr id="17" name="Text 15"/>
          <p:cNvSpPr txBox="1"/>
          <p:nvPr/>
        </p:nvSpPr>
        <p:spPr>
          <a:xfrm>
            <a:off x="6281928" y="2148840"/>
            <a:ext cx="1545336" cy="525780"/>
          </a:xfrm>
          <a:prstGeom prst="rect">
            <a:avLst/>
          </a:prstGeom>
          <a:noFill/>
          <a:ln/>
        </p:spPr>
        <p:txBody>
          <a:bodyPr wrap="square" lIns="0" tIns="0" rIns="0" bIns="0" rtlCol="0" anchor="ctr"/>
          <a:lstStyle/>
          <a:p>
            <a:pPr algn="ctr" indent="0" marL="0">
              <a:buNone/>
            </a:pPr>
            <a:r>
              <a:rPr lang="en-US" sz="1150" b="1" dirty="0">
                <a:solidFill>
                  <a:srgbClr val="182033"/>
                </a:solidFill>
                <a:latin typeface="Calibri" pitchFamily="34" charset="0"/>
                <a:ea typeface="Calibri" pitchFamily="34" charset="-122"/>
                <a:cs typeface="Calibri" pitchFamily="34" charset="-120"/>
              </a:rPr>
              <a:t>Anomaly Detection</a:t>
            </a:r>
            <a:endParaRPr lang="en-US" sz="1150" dirty="0"/>
          </a:p>
          <a:p>
            <a:pPr algn="ctr" indent="0" marL="0">
              <a:buNone/>
            </a:pPr>
            <a:r>
              <a:rPr lang="en-US" sz="1150" b="1" dirty="0">
                <a:solidFill>
                  <a:srgbClr val="182033"/>
                </a:solidFill>
                <a:latin typeface="Calibri" pitchFamily="34" charset="0"/>
                <a:ea typeface="Calibri" pitchFamily="34" charset="-122"/>
                <a:cs typeface="Calibri" pitchFamily="34" charset="-120"/>
              </a:rPr>
              <a:t>/ Forecasting</a:t>
            </a:r>
            <a:endParaRPr lang="en-US" sz="1150" dirty="0"/>
          </a:p>
        </p:txBody>
      </p:sp>
      <p:sp>
        <p:nvSpPr>
          <p:cNvPr id="18" name="Text 16"/>
          <p:cNvSpPr txBox="1"/>
          <p:nvPr/>
        </p:nvSpPr>
        <p:spPr>
          <a:xfrm>
            <a:off x="6281928" y="2635758"/>
            <a:ext cx="1545336" cy="441655"/>
          </a:xfrm>
          <a:prstGeom prst="rect">
            <a:avLst/>
          </a:prstGeom>
          <a:noFill/>
          <a:ln/>
        </p:spPr>
        <p:txBody>
          <a:bodyPr wrap="square" lIns="0" tIns="0" rIns="0" bIns="0" rtlCol="0" anchor="ctr"/>
          <a:lstStyle/>
          <a:p>
            <a:pPr algn="ctr" indent="0" marL="0">
              <a:buNone/>
            </a:pPr>
            <a:r>
              <a:rPr lang="en-US" sz="1000" dirty="0">
                <a:solidFill>
                  <a:srgbClr val="14743F"/>
                </a:solidFill>
                <a:latin typeface="Calibri" pitchFamily="34" charset="0"/>
                <a:ea typeface="Calibri" pitchFamily="34" charset="-122"/>
                <a:cs typeface="Calibri" pitchFamily="34" charset="-120"/>
              </a:rPr>
              <a:t>Isolation Forest</a:t>
            </a:r>
            <a:endParaRPr lang="en-US" sz="1000" dirty="0"/>
          </a:p>
          <a:p>
            <a:pPr algn="ctr" indent="0" marL="0">
              <a:buNone/>
            </a:pPr>
            <a:r>
              <a:rPr lang="en-US" sz="1000" dirty="0">
                <a:solidFill>
                  <a:srgbClr val="14743F"/>
                </a:solidFill>
                <a:latin typeface="Calibri" pitchFamily="34" charset="0"/>
                <a:ea typeface="Calibri" pitchFamily="34" charset="-122"/>
                <a:cs typeface="Calibri" pitchFamily="34" charset="-120"/>
              </a:rPr>
              <a:t>+ ARIMA</a:t>
            </a:r>
            <a:endParaRPr lang="en-US" sz="1000" dirty="0"/>
          </a:p>
        </p:txBody>
      </p:sp>
      <p:sp>
        <p:nvSpPr>
          <p:cNvPr id="19" name="Text 17"/>
          <p:cNvSpPr txBox="1"/>
          <p:nvPr/>
        </p:nvSpPr>
        <p:spPr>
          <a:xfrm>
            <a:off x="7900416" y="2372868"/>
            <a:ext cx="210312" cy="420624"/>
          </a:xfrm>
          <a:prstGeom prst="rect">
            <a:avLst/>
          </a:prstGeom>
          <a:noFill/>
          <a:ln/>
        </p:spPr>
        <p:txBody>
          <a:bodyPr wrap="square" lIns="0" tIns="0" rIns="0" bIns="0" rtlCol="0" anchor="ctr"/>
          <a:lstStyle/>
          <a:p>
            <a:pPr algn="ctr" indent="0" marL="0">
              <a:buNone/>
            </a:pPr>
            <a:r>
              <a:rPr lang="en-US" sz="1800" dirty="0">
                <a:solidFill>
                  <a:srgbClr val="5B6577"/>
                </a:solidFill>
                <a:latin typeface="Arial" pitchFamily="34" charset="0"/>
                <a:ea typeface="Arial" pitchFamily="34" charset="-122"/>
                <a:cs typeface="Arial" pitchFamily="34" charset="-120"/>
              </a:rPr>
              <a:t>→</a:t>
            </a:r>
            <a:endParaRPr lang="en-US" sz="1800" dirty="0"/>
          </a:p>
        </p:txBody>
      </p:sp>
      <p:sp>
        <p:nvSpPr>
          <p:cNvPr id="20" name="Shape 18"/>
          <p:cNvSpPr/>
          <p:nvPr/>
        </p:nvSpPr>
        <p:spPr>
          <a:xfrm>
            <a:off x="8110728" y="2057400"/>
            <a:ext cx="1691640" cy="1051560"/>
          </a:xfrm>
          <a:prstGeom prst="roundRect">
            <a:avLst>
              <a:gd name="adj" fmla="val 6957"/>
            </a:avLst>
          </a:prstGeom>
          <a:solidFill>
            <a:srgbClr val="F4F6F9"/>
          </a:solidFill>
          <a:ln w="15875">
            <a:solidFill>
              <a:srgbClr val="0B63B6"/>
            </a:solidFill>
            <a:prstDash val="solid"/>
          </a:ln>
        </p:spPr>
      </p:sp>
      <p:sp>
        <p:nvSpPr>
          <p:cNvPr id="21" name="Text 19"/>
          <p:cNvSpPr txBox="1"/>
          <p:nvPr/>
        </p:nvSpPr>
        <p:spPr>
          <a:xfrm>
            <a:off x="8183880" y="2148840"/>
            <a:ext cx="1545336" cy="525780"/>
          </a:xfrm>
          <a:prstGeom prst="rect">
            <a:avLst/>
          </a:prstGeom>
          <a:noFill/>
          <a:ln/>
        </p:spPr>
        <p:txBody>
          <a:bodyPr wrap="square" lIns="0" tIns="0" rIns="0" bIns="0" rtlCol="0" anchor="ctr"/>
          <a:lstStyle/>
          <a:p>
            <a:pPr algn="ctr" indent="0" marL="0">
              <a:buNone/>
            </a:pPr>
            <a:r>
              <a:rPr lang="en-US" sz="1150" b="1" dirty="0">
                <a:solidFill>
                  <a:srgbClr val="182033"/>
                </a:solidFill>
                <a:latin typeface="Calibri" pitchFamily="34" charset="0"/>
                <a:ea typeface="Calibri" pitchFamily="34" charset="-122"/>
                <a:cs typeface="Calibri" pitchFamily="34" charset="-120"/>
              </a:rPr>
              <a:t>Impact</a:t>
            </a:r>
            <a:endParaRPr lang="en-US" sz="1150" dirty="0"/>
          </a:p>
          <a:p>
            <a:pPr algn="ctr" indent="0" marL="0">
              <a:buNone/>
            </a:pPr>
            <a:r>
              <a:rPr lang="en-US" sz="1150" b="1" dirty="0">
                <a:solidFill>
                  <a:srgbClr val="182033"/>
                </a:solidFill>
                <a:latin typeface="Calibri" pitchFamily="34" charset="0"/>
                <a:ea typeface="Calibri" pitchFamily="34" charset="-122"/>
                <a:cs typeface="Calibri" pitchFamily="34" charset="-120"/>
              </a:rPr>
              <a:t>Analysis</a:t>
            </a:r>
            <a:endParaRPr lang="en-US" sz="1150" dirty="0"/>
          </a:p>
        </p:txBody>
      </p:sp>
      <p:sp>
        <p:nvSpPr>
          <p:cNvPr id="22" name="Text 20"/>
          <p:cNvSpPr txBox="1"/>
          <p:nvPr/>
        </p:nvSpPr>
        <p:spPr>
          <a:xfrm>
            <a:off x="8183880" y="2635758"/>
            <a:ext cx="1545336" cy="441655"/>
          </a:xfrm>
          <a:prstGeom prst="rect">
            <a:avLst/>
          </a:prstGeom>
          <a:noFill/>
          <a:ln/>
        </p:spPr>
        <p:txBody>
          <a:bodyPr wrap="square" lIns="0" tIns="0" rIns="0" bIns="0" rtlCol="0" anchor="ctr"/>
          <a:lstStyle/>
          <a:p>
            <a:pPr algn="ctr" indent="0" marL="0">
              <a:buNone/>
            </a:pPr>
            <a:r>
              <a:rPr lang="en-US" sz="1000" dirty="0">
                <a:solidFill>
                  <a:srgbClr val="0B63B6"/>
                </a:solidFill>
                <a:latin typeface="Calibri" pitchFamily="34" charset="0"/>
                <a:ea typeface="Calibri" pitchFamily="34" charset="-122"/>
                <a:cs typeface="Calibri" pitchFamily="34" charset="-120"/>
              </a:rPr>
              <a:t>Spoilage risk +</a:t>
            </a:r>
            <a:endParaRPr lang="en-US" sz="1000" dirty="0"/>
          </a:p>
          <a:p>
            <a:pPr algn="ctr" indent="0" marL="0">
              <a:buNone/>
            </a:pPr>
            <a:r>
              <a:rPr lang="en-US" sz="1000" dirty="0">
                <a:solidFill>
                  <a:srgbClr val="0B63B6"/>
                </a:solidFill>
                <a:latin typeface="Calibri" pitchFamily="34" charset="0"/>
                <a:ea typeface="Calibri" pitchFamily="34" charset="-122"/>
                <a:cs typeface="Calibri" pitchFamily="34" charset="-120"/>
              </a:rPr>
              <a:t>revenue at risk</a:t>
            </a:r>
            <a:endParaRPr lang="en-US" sz="1000" dirty="0"/>
          </a:p>
        </p:txBody>
      </p:sp>
      <p:sp>
        <p:nvSpPr>
          <p:cNvPr id="23" name="Text 21"/>
          <p:cNvSpPr txBox="1"/>
          <p:nvPr/>
        </p:nvSpPr>
        <p:spPr>
          <a:xfrm>
            <a:off x="9802368" y="2372868"/>
            <a:ext cx="210312" cy="420624"/>
          </a:xfrm>
          <a:prstGeom prst="rect">
            <a:avLst/>
          </a:prstGeom>
          <a:noFill/>
          <a:ln/>
        </p:spPr>
        <p:txBody>
          <a:bodyPr wrap="square" lIns="0" tIns="0" rIns="0" bIns="0" rtlCol="0" anchor="ctr"/>
          <a:lstStyle/>
          <a:p>
            <a:pPr algn="ctr" indent="0" marL="0">
              <a:buNone/>
            </a:pPr>
            <a:r>
              <a:rPr lang="en-US" sz="1800" dirty="0">
                <a:solidFill>
                  <a:srgbClr val="5B6577"/>
                </a:solidFill>
                <a:latin typeface="Arial" pitchFamily="34" charset="0"/>
                <a:ea typeface="Arial" pitchFamily="34" charset="-122"/>
                <a:cs typeface="Arial" pitchFamily="34" charset="-120"/>
              </a:rPr>
              <a:t>→</a:t>
            </a:r>
            <a:endParaRPr lang="en-US" sz="1800" dirty="0"/>
          </a:p>
        </p:txBody>
      </p:sp>
      <p:sp>
        <p:nvSpPr>
          <p:cNvPr id="24" name="Shape 22"/>
          <p:cNvSpPr/>
          <p:nvPr/>
        </p:nvSpPr>
        <p:spPr>
          <a:xfrm>
            <a:off x="10012680" y="2057400"/>
            <a:ext cx="1691640" cy="1051560"/>
          </a:xfrm>
          <a:prstGeom prst="roundRect">
            <a:avLst>
              <a:gd name="adj" fmla="val 6957"/>
            </a:avLst>
          </a:prstGeom>
          <a:solidFill>
            <a:srgbClr val="F4F6F9"/>
          </a:solidFill>
          <a:ln w="15875">
            <a:solidFill>
              <a:srgbClr val="14743F"/>
            </a:solidFill>
            <a:prstDash val="solid"/>
          </a:ln>
        </p:spPr>
      </p:sp>
      <p:sp>
        <p:nvSpPr>
          <p:cNvPr id="25" name="Text 23"/>
          <p:cNvSpPr txBox="1"/>
          <p:nvPr/>
        </p:nvSpPr>
        <p:spPr>
          <a:xfrm>
            <a:off x="10085832" y="2148840"/>
            <a:ext cx="1545336" cy="525780"/>
          </a:xfrm>
          <a:prstGeom prst="rect">
            <a:avLst/>
          </a:prstGeom>
          <a:noFill/>
          <a:ln/>
        </p:spPr>
        <p:txBody>
          <a:bodyPr wrap="square" lIns="0" tIns="0" rIns="0" bIns="0" rtlCol="0" anchor="ctr"/>
          <a:lstStyle/>
          <a:p>
            <a:pPr algn="ctr" indent="0" marL="0">
              <a:buNone/>
            </a:pPr>
            <a:r>
              <a:rPr lang="en-US" sz="1150" b="1" dirty="0">
                <a:solidFill>
                  <a:srgbClr val="182033"/>
                </a:solidFill>
                <a:latin typeface="Calibri" pitchFamily="34" charset="0"/>
                <a:ea typeface="Calibri" pitchFamily="34" charset="-122"/>
                <a:cs typeface="Calibri" pitchFamily="34" charset="-120"/>
              </a:rPr>
              <a:t>Decision</a:t>
            </a:r>
            <a:endParaRPr lang="en-US" sz="1150" dirty="0"/>
          </a:p>
          <a:p>
            <a:pPr algn="ctr" indent="0" marL="0">
              <a:buNone/>
            </a:pPr>
            <a:r>
              <a:rPr lang="en-US" sz="1150" b="1" dirty="0">
                <a:solidFill>
                  <a:srgbClr val="182033"/>
                </a:solidFill>
                <a:latin typeface="Calibri" pitchFamily="34" charset="0"/>
                <a:ea typeface="Calibri" pitchFamily="34" charset="-122"/>
                <a:cs typeface="Calibri" pitchFamily="34" charset="-120"/>
              </a:rPr>
              <a:t>Dashboard</a:t>
            </a:r>
            <a:endParaRPr lang="en-US" sz="1150" dirty="0"/>
          </a:p>
        </p:txBody>
      </p:sp>
      <p:sp>
        <p:nvSpPr>
          <p:cNvPr id="26" name="Text 24"/>
          <p:cNvSpPr txBox="1"/>
          <p:nvPr/>
        </p:nvSpPr>
        <p:spPr>
          <a:xfrm>
            <a:off x="10085832" y="2635758"/>
            <a:ext cx="1545336" cy="441655"/>
          </a:xfrm>
          <a:prstGeom prst="rect">
            <a:avLst/>
          </a:prstGeom>
          <a:noFill/>
          <a:ln/>
        </p:spPr>
        <p:txBody>
          <a:bodyPr wrap="square" lIns="0" tIns="0" rIns="0" bIns="0" rtlCol="0" anchor="ctr"/>
          <a:lstStyle/>
          <a:p>
            <a:pPr algn="ctr" indent="0" marL="0">
              <a:buNone/>
            </a:pPr>
            <a:r>
              <a:rPr lang="en-US" sz="1000" dirty="0">
                <a:solidFill>
                  <a:srgbClr val="14743F"/>
                </a:solidFill>
                <a:latin typeface="Calibri" pitchFamily="34" charset="0"/>
                <a:ea typeface="Calibri" pitchFamily="34" charset="-122"/>
                <a:cs typeface="Calibri" pitchFamily="34" charset="-120"/>
              </a:rPr>
              <a:t>Live, role-</a:t>
            </a:r>
            <a:endParaRPr lang="en-US" sz="1000" dirty="0"/>
          </a:p>
          <a:p>
            <a:pPr algn="ctr" indent="0" marL="0">
              <a:buNone/>
            </a:pPr>
            <a:r>
              <a:rPr lang="en-US" sz="1000" dirty="0">
                <a:solidFill>
                  <a:srgbClr val="14743F"/>
                </a:solidFill>
                <a:latin typeface="Calibri" pitchFamily="34" charset="0"/>
                <a:ea typeface="Calibri" pitchFamily="34" charset="-122"/>
                <a:cs typeface="Calibri" pitchFamily="34" charset="-120"/>
              </a:rPr>
              <a:t>gated web app</a:t>
            </a:r>
            <a:endParaRPr lang="en-US" sz="1000" dirty="0"/>
          </a:p>
        </p:txBody>
      </p:sp>
      <p:sp>
        <p:nvSpPr>
          <p:cNvPr id="27" name="Text 25"/>
          <p:cNvSpPr txBox="1"/>
          <p:nvPr/>
        </p:nvSpPr>
        <p:spPr>
          <a:xfrm>
            <a:off x="502920" y="3429000"/>
            <a:ext cx="11201400" cy="365760"/>
          </a:xfrm>
          <a:prstGeom prst="rect">
            <a:avLst/>
          </a:prstGeom>
          <a:noFill/>
          <a:ln/>
        </p:spPr>
        <p:txBody>
          <a:bodyPr wrap="square" lIns="0" tIns="0" rIns="0" bIns="0" rtlCol="0" anchor="ctr"/>
          <a:lstStyle/>
          <a:p>
            <a:pPr indent="0" marL="0">
              <a:buNone/>
            </a:pPr>
            <a:r>
              <a:rPr lang="en-US" sz="1400" b="1" dirty="0">
                <a:solidFill>
                  <a:srgbClr val="0F1B2D"/>
                </a:solidFill>
                <a:latin typeface="Cambria" pitchFamily="34" charset="0"/>
                <a:ea typeface="Cambria" pitchFamily="34" charset="-122"/>
                <a:cs typeface="Cambria" pitchFamily="34" charset="-120"/>
              </a:rPr>
              <a:t>Sensor Data Stream is now a real, authenticated ingestion path — not a placeholder</a:t>
            </a:r>
            <a:endParaRPr lang="en-US" sz="1400" dirty="0"/>
          </a:p>
        </p:txBody>
      </p:sp>
      <p:sp>
        <p:nvSpPr>
          <p:cNvPr id="28" name="Text 26"/>
          <p:cNvSpPr txBox="1"/>
          <p:nvPr/>
        </p:nvSpPr>
        <p:spPr>
          <a:xfrm>
            <a:off x="685800" y="3840480"/>
            <a:ext cx="10789920" cy="256032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0B63B6"/>
                </a:solidFill>
                <a:latin typeface="Calibri" pitchFamily="34" charset="0"/>
                <a:ea typeface="Calibri" pitchFamily="34" charset="-122"/>
                <a:cs typeface="Calibri" pitchFamily="34" charset="-120"/>
              </a:rPr>
              <a:t>Device-authenticated POST /api/ingest/readings — the exact HTTP path a real sensor gateway would call, kept separate from staff/admin logins</a:t>
            </a:r>
            <a:endParaRPr lang="en-US" sz="1300" dirty="0"/>
          </a:p>
          <a:p>
            <a:pPr marL="342900" indent="-342900">
              <a:spcAft>
                <a:spcPts val="800"/>
              </a:spcAft>
              <a:buSzPct val="100000"/>
              <a:buChar char="▪"/>
            </a:pPr>
            <a:r>
              <a:rPr lang="en-US" sz="1300" dirty="0">
                <a:solidFill>
                  <a:srgbClr val="0B63B6"/>
                </a:solidFill>
                <a:latin typeface="Calibri" pitchFamily="34" charset="0"/>
                <a:ea typeface="Calibri" pitchFamily="34" charset="-122"/>
                <a:cs typeface="Calibri" pitchFamily="34" charset="-120"/>
              </a:rPr>
              <a:t>Data Quality Framework: 4 independent checks (missing, outlier, drift, noise) combined into a single trust score, enforced before analytics ever runs</a:t>
            </a:r>
            <a:endParaRPr lang="en-US" sz="1300" dirty="0"/>
          </a:p>
          <a:p>
            <a:pPr marL="342900" indent="-342900">
              <a:spcAft>
                <a:spcPts val="800"/>
              </a:spcAft>
              <a:buSzPct val="100000"/>
              <a:buChar char="▪"/>
            </a:pPr>
            <a:r>
              <a:rPr lang="en-US" sz="1300" dirty="0">
                <a:solidFill>
                  <a:srgbClr val="0B63B6"/>
                </a:solidFill>
                <a:latin typeface="Calibri" pitchFamily="34" charset="0"/>
                <a:ea typeface="Calibri" pitchFamily="34" charset="-122"/>
                <a:cs typeface="Calibri" pitchFamily="34" charset="-120"/>
              </a:rPr>
              <a:t>Analytics: Isolation Forest anomaly detection + ARIMA forecasting (auto-selected by AIC), with a documented fallback</a:t>
            </a:r>
            <a:endParaRPr lang="en-US" sz="1300" dirty="0"/>
          </a:p>
          <a:p>
            <a:pPr marL="342900" indent="-342900">
              <a:spcAft>
                <a:spcPts val="800"/>
              </a:spcAft>
              <a:buSzPct val="100000"/>
              <a:buChar char="▪"/>
            </a:pPr>
            <a:r>
              <a:rPr lang="en-US" sz="1300" dirty="0">
                <a:solidFill>
                  <a:srgbClr val="0B63B6"/>
                </a:solidFill>
                <a:latin typeface="Calibri" pitchFamily="34" charset="0"/>
                <a:ea typeface="Calibri" pitchFamily="34" charset="-122"/>
                <a:cs typeface="Calibri" pitchFamily="34" charset="-120"/>
              </a:rPr>
              <a:t>Enterprise access: 4-tier role hierarchy (Staff → Quality Supervisor → Operations Manager → Administrator), enforced server-side on every request</a:t>
            </a:r>
            <a:endParaRPr lang="en-US" sz="1300" dirty="0"/>
          </a:p>
          <a:p>
            <a:pPr marL="342900" indent="-342900">
              <a:spcAft>
                <a:spcPts val="800"/>
              </a:spcAft>
              <a:buSzPct val="100000"/>
              <a:buChar char="▪"/>
            </a:pPr>
            <a:r>
              <a:rPr lang="en-US" sz="1300" dirty="0">
                <a:solidFill>
                  <a:srgbClr val="0B63B6"/>
                </a:solidFill>
                <a:latin typeface="Calibri" pitchFamily="34" charset="0"/>
                <a:ea typeface="Calibri" pitchFamily="34" charset="-122"/>
                <a:cs typeface="Calibri" pitchFamily="34" charset="-120"/>
              </a:rPr>
              <a:t>Full web dashboard: Real-Time Monitoring, Data Quality, Alerts, Risk &amp; Business Impact, Reports (PDF export), User Management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02920" y="292608"/>
            <a:ext cx="8229600" cy="274320"/>
          </a:xfrm>
          <a:prstGeom prst="rect">
            <a:avLst/>
          </a:prstGeom>
          <a:noFill/>
          <a:ln/>
        </p:spPr>
        <p:txBody>
          <a:bodyPr wrap="square" rtlCol="0" anchor="ctr"/>
          <a:lstStyle/>
          <a:p>
            <a:pPr indent="0" marL="0">
              <a:buNone/>
            </a:pPr>
            <a:r>
              <a:rPr lang="en-US" sz="1200" b="1" spc="200" kern="0" dirty="0">
                <a:solidFill>
                  <a:srgbClr val="0B63B6"/>
                </a:solidFill>
                <a:latin typeface="Calibri" pitchFamily="34" charset="0"/>
                <a:ea typeface="Calibri" pitchFamily="34" charset="-122"/>
                <a:cs typeface="Calibri" pitchFamily="34" charset="-120"/>
              </a:rPr>
              <a:t>LIVE DEMO — 1 OF 5</a:t>
            </a:r>
            <a:endParaRPr lang="en-US" sz="1200" dirty="0"/>
          </a:p>
        </p:txBody>
      </p:sp>
      <p:sp>
        <p:nvSpPr>
          <p:cNvPr id="3" name="Text 1"/>
          <p:cNvSpPr txBox="1"/>
          <p:nvPr/>
        </p:nvSpPr>
        <p:spPr>
          <a:xfrm>
            <a:off x="502920" y="548640"/>
            <a:ext cx="11155680" cy="640080"/>
          </a:xfrm>
          <a:prstGeom prst="rect">
            <a:avLst/>
          </a:prstGeom>
          <a:noFill/>
          <a:ln/>
        </p:spPr>
        <p:txBody>
          <a:bodyPr wrap="square" lIns="0" tIns="0" rIns="0" bIns="0" rtlCol="0" anchor="ctr"/>
          <a:lstStyle/>
          <a:p>
            <a:pPr indent="0" marL="0">
              <a:buNone/>
            </a:pPr>
            <a:r>
              <a:rPr lang="en-US" sz="3000" b="1" dirty="0">
                <a:solidFill>
                  <a:srgbClr val="182033"/>
                </a:solidFill>
                <a:latin typeface="Cambria" pitchFamily="34" charset="0"/>
                <a:ea typeface="Cambria" pitchFamily="34" charset="-122"/>
                <a:cs typeface="Cambria" pitchFamily="34" charset="-120"/>
              </a:rPr>
              <a:t>Real-Time Monitoring</a:t>
            </a:r>
            <a:endParaRPr lang="en-US" sz="3000" dirty="0"/>
          </a:p>
        </p:txBody>
      </p:sp>
      <p:pic>
        <p:nvPicPr>
          <p:cNvPr id="4" name="Image 0" descr="C:/Users/hp/AppData/Local/Temp/claude/d--Projects-Data-Management-Project/f1637f22-c154-4314-8b40-9aace7c62ede/scratchpad/deck_shots/02-monitoring.png">    </p:cNvPr>
          <p:cNvPicPr>
            <a:picLocks noChangeAspect="1"/>
          </p:cNvPicPr>
          <p:nvPr/>
        </p:nvPicPr>
        <p:blipFill>
          <a:blip r:embed="rId1"/>
          <a:stretch>
            <a:fillRect/>
          </a:stretch>
        </p:blipFill>
        <p:spPr>
          <a:xfrm>
            <a:off x="1186189" y="1783080"/>
            <a:ext cx="5720063" cy="4663440"/>
          </a:xfrm>
          <a:prstGeom prst="rect">
            <a:avLst/>
          </a:prstGeom>
          <a:effectLst>
            <a:outerShdw sx="100000" sy="100000" kx="0" ky="0" algn="bl" rotWithShape="0" blurRad="127000" dist="38100" dir="5400000">
              <a:srgbClr val="182033">
                <a:alpha val="25000"/>
              </a:srgbClr>
            </a:outerShdw>
          </a:effectLst>
        </p:spPr>
      </p:pic>
      <p:sp>
        <p:nvSpPr>
          <p:cNvPr id="5" name="Shape 2"/>
          <p:cNvSpPr/>
          <p:nvPr/>
        </p:nvSpPr>
        <p:spPr>
          <a:xfrm>
            <a:off x="1186189" y="1783080"/>
            <a:ext cx="5720063" cy="4663440"/>
          </a:xfrm>
          <a:prstGeom prst="rect">
            <a:avLst/>
          </a:prstGeom>
          <a:solidFill>
            <a:srgbClr val="FFFFFF">
              <a:alpha val="0"/>
            </a:srgbClr>
          </a:solidFill>
          <a:ln w="9525">
            <a:solidFill>
              <a:srgbClr val="DDE3EC"/>
            </a:solidFill>
            <a:prstDash val="solid"/>
          </a:ln>
        </p:spPr>
      </p:sp>
      <p:sp>
        <p:nvSpPr>
          <p:cNvPr id="6" name="Text 3"/>
          <p:cNvSpPr txBox="1"/>
          <p:nvPr/>
        </p:nvSpPr>
        <p:spPr>
          <a:xfrm>
            <a:off x="7818120" y="1920240"/>
            <a:ext cx="3886200" cy="4206240"/>
          </a:xfrm>
          <a:prstGeom prst="rect">
            <a:avLst/>
          </a:prstGeom>
          <a:noFill/>
          <a:ln/>
        </p:spPr>
        <p:txBody>
          <a:bodyPr wrap="square" lIns="0" tIns="0" rIns="0" bIns="0" rtlCol="0" anchor="t"/>
          <a:lstStyle/>
          <a:p>
            <a:pPr marL="342900" indent="-342900">
              <a:spcAft>
                <a:spcPts val="1400"/>
              </a:spcAft>
              <a:buSzPct val="100000"/>
              <a:buChar char="▪"/>
            </a:pPr>
            <a:r>
              <a:rPr lang="en-US" sz="1300" dirty="0">
                <a:solidFill>
                  <a:srgbClr val="0B63B6"/>
                </a:solidFill>
                <a:latin typeface="Calibri" pitchFamily="34" charset="0"/>
                <a:ea typeface="Calibri" pitchFamily="34" charset="-122"/>
                <a:cs typeface="Calibri" pitchFamily="34" charset="-120"/>
              </a:rPr>
              <a:t>Trust score is recomputed live from the newest ~30 minutes on every request — not a static label</a:t>
            </a:r>
            <a:endParaRPr lang="en-US" sz="1300" dirty="0"/>
          </a:p>
          <a:p>
            <a:pPr marL="342900" indent="-342900">
              <a:spcAft>
                <a:spcPts val="1400"/>
              </a:spcAft>
              <a:buSzPct val="100000"/>
              <a:buChar char="▪"/>
            </a:pPr>
            <a:r>
              <a:rPr lang="en-US" sz="1300" dirty="0">
                <a:solidFill>
                  <a:srgbClr val="0B63B6"/>
                </a:solidFill>
                <a:latin typeface="Calibri" pitchFamily="34" charset="0"/>
                <a:ea typeface="Calibri" pitchFamily="34" charset="-122"/>
                <a:cs typeface="Calibri" pitchFamily="34" charset="-120"/>
              </a:rPr>
              <a:t>Red triangles: real glitch readings from the actual Kaggle sensor dataset, automatically excluded</a:t>
            </a:r>
            <a:endParaRPr lang="en-US" sz="1300" dirty="0"/>
          </a:p>
          <a:p>
            <a:pPr marL="342900" indent="-342900">
              <a:spcAft>
                <a:spcPts val="1400"/>
              </a:spcAft>
              <a:buSzPct val="100000"/>
              <a:buChar char="▪"/>
            </a:pPr>
            <a:r>
              <a:rPr lang="en-US" sz="1300" dirty="0">
                <a:solidFill>
                  <a:srgbClr val="0B63B6"/>
                </a:solidFill>
                <a:latin typeface="Calibri" pitchFamily="34" charset="0"/>
                <a:ea typeface="Calibri" pitchFamily="34" charset="-122"/>
                <a:cs typeface="Calibri" pitchFamily="34" charset="-120"/>
              </a:rPr>
              <a:t>Forecast is ARIMA (auto order selection), with a linear-trend fallback</a:t>
            </a:r>
            <a:endParaRPr lang="en-US" sz="1300" dirty="0"/>
          </a:p>
          <a:p>
            <a:pPr marL="342900" indent="-342900">
              <a:spcAft>
                <a:spcPts val="1400"/>
              </a:spcAft>
              <a:buSzPct val="100000"/>
              <a:buChar char="▪"/>
            </a:pPr>
            <a:r>
              <a:rPr lang="en-US" sz="1300" dirty="0">
                <a:solidFill>
                  <a:srgbClr val="0B63B6"/>
                </a:solidFill>
                <a:latin typeface="Calibri" pitchFamily="34" charset="0"/>
                <a:ea typeface="Calibri" pitchFamily="34" charset="-122"/>
                <a:cs typeface="Calibri" pitchFamily="34" charset="-120"/>
              </a:rPr>
              <a:t>Dashed line is the unit's safe limit — note the real excursions above it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02920" y="292608"/>
            <a:ext cx="8229600" cy="274320"/>
          </a:xfrm>
          <a:prstGeom prst="rect">
            <a:avLst/>
          </a:prstGeom>
          <a:noFill/>
          <a:ln/>
        </p:spPr>
        <p:txBody>
          <a:bodyPr wrap="square" rtlCol="0" anchor="ctr"/>
          <a:lstStyle/>
          <a:p>
            <a:pPr indent="0" marL="0">
              <a:buNone/>
            </a:pPr>
            <a:r>
              <a:rPr lang="en-US" sz="1200" b="1" spc="200" kern="0" dirty="0">
                <a:solidFill>
                  <a:srgbClr val="0B63B6"/>
                </a:solidFill>
                <a:latin typeface="Calibri" pitchFamily="34" charset="0"/>
                <a:ea typeface="Calibri" pitchFamily="34" charset="-122"/>
                <a:cs typeface="Calibri" pitchFamily="34" charset="-120"/>
              </a:rPr>
              <a:t>LIVE DEMO — 2 OF 5</a:t>
            </a:r>
            <a:endParaRPr lang="en-US" sz="1200" dirty="0"/>
          </a:p>
        </p:txBody>
      </p:sp>
      <p:sp>
        <p:nvSpPr>
          <p:cNvPr id="3" name="Text 1"/>
          <p:cNvSpPr txBox="1"/>
          <p:nvPr/>
        </p:nvSpPr>
        <p:spPr>
          <a:xfrm>
            <a:off x="502920" y="548640"/>
            <a:ext cx="11155680" cy="640080"/>
          </a:xfrm>
          <a:prstGeom prst="rect">
            <a:avLst/>
          </a:prstGeom>
          <a:noFill/>
          <a:ln/>
        </p:spPr>
        <p:txBody>
          <a:bodyPr wrap="square" lIns="0" tIns="0" rIns="0" bIns="0" rtlCol="0" anchor="ctr"/>
          <a:lstStyle/>
          <a:p>
            <a:pPr indent="0" marL="0">
              <a:buNone/>
            </a:pPr>
            <a:r>
              <a:rPr lang="en-US" sz="3000" b="1" dirty="0">
                <a:solidFill>
                  <a:srgbClr val="182033"/>
                </a:solidFill>
                <a:latin typeface="Cambria" pitchFamily="34" charset="0"/>
                <a:ea typeface="Cambria" pitchFamily="34" charset="-122"/>
                <a:cs typeface="Cambria" pitchFamily="34" charset="-120"/>
              </a:rPr>
              <a:t>Data Quality — The Core Contribution</a:t>
            </a:r>
            <a:endParaRPr lang="en-US" sz="3000" dirty="0"/>
          </a:p>
        </p:txBody>
      </p:sp>
      <p:pic>
        <p:nvPicPr>
          <p:cNvPr id="4" name="Image 0" descr="C:/Users/hp/AppData/Local/Temp/claude/d--Projects-Data-Management-Project/f1637f22-c154-4314-8b40-9aace7c62ede/scratchpad/deck_shots/03-quality-summary.png">    </p:cNvPr>
          <p:cNvPicPr>
            <a:picLocks noChangeAspect="1"/>
          </p:cNvPicPr>
          <p:nvPr/>
        </p:nvPicPr>
        <p:blipFill>
          <a:blip r:embed="rId1"/>
          <a:stretch>
            <a:fillRect/>
          </a:stretch>
        </p:blipFill>
        <p:spPr>
          <a:xfrm>
            <a:off x="2877617" y="1783080"/>
            <a:ext cx="6452006" cy="4480560"/>
          </a:xfrm>
          <a:prstGeom prst="rect">
            <a:avLst/>
          </a:prstGeom>
          <a:effectLst>
            <a:outerShdw sx="100000" sy="100000" kx="0" ky="0" algn="bl" rotWithShape="0" blurRad="127000" dist="38100" dir="5400000">
              <a:srgbClr val="182033">
                <a:alpha val="25000"/>
              </a:srgbClr>
            </a:outerShdw>
          </a:effectLst>
        </p:spPr>
      </p:pic>
      <p:sp>
        <p:nvSpPr>
          <p:cNvPr id="5" name="Shape 2"/>
          <p:cNvSpPr/>
          <p:nvPr/>
        </p:nvSpPr>
        <p:spPr>
          <a:xfrm>
            <a:off x="2877617" y="1783080"/>
            <a:ext cx="6452006" cy="4480560"/>
          </a:xfrm>
          <a:prstGeom prst="rect">
            <a:avLst/>
          </a:prstGeom>
          <a:solidFill>
            <a:srgbClr val="FFFFFF">
              <a:alpha val="0"/>
            </a:srgbClr>
          </a:solidFill>
          <a:ln w="9525">
            <a:solidFill>
              <a:srgbClr val="DDE3EC"/>
            </a:solidFill>
            <a:prstDash val="solid"/>
          </a:ln>
        </p:spPr>
      </p:sp>
      <p:sp>
        <p:nvSpPr>
          <p:cNvPr id="6" name="Text 3"/>
          <p:cNvSpPr txBox="1"/>
          <p:nvPr/>
        </p:nvSpPr>
        <p:spPr>
          <a:xfrm>
            <a:off x="502920" y="6510528"/>
            <a:ext cx="11155680" cy="274320"/>
          </a:xfrm>
          <a:prstGeom prst="rect">
            <a:avLst/>
          </a:prstGeom>
          <a:noFill/>
          <a:ln/>
        </p:spPr>
        <p:txBody>
          <a:bodyPr wrap="square" lIns="0" tIns="0" rIns="0" bIns="0" rtlCol="0" anchor="ctr"/>
          <a:lstStyle/>
          <a:p>
            <a:pPr indent="0" marL="0">
              <a:buNone/>
            </a:pPr>
            <a:r>
              <a:rPr lang="en-US" sz="900" i="1" dirty="0">
                <a:solidFill>
                  <a:srgbClr val="5B6577"/>
                </a:solidFill>
                <a:latin typeface="Calibri" pitchFamily="34" charset="0"/>
                <a:ea typeface="Calibri" pitchFamily="34" charset="-122"/>
                <a:cs typeface="Calibri" pitchFamily="34" charset="-120"/>
              </a:rPr>
              <a:t>405K real readings, under 0.3% excluded as glitches, nearly every window scores High — an honest result, not a tuned one. The fault-injection demo (next) is what shows the layer reacting.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8229600" cy="274320"/>
          </a:xfrm>
          <a:prstGeom prst="rect">
            <a:avLst/>
          </a:prstGeom>
          <a:noFill/>
          <a:ln/>
        </p:spPr>
        <p:txBody>
          <a:bodyPr wrap="square" rtlCol="0" anchor="ctr"/>
          <a:lstStyle/>
          <a:p>
            <a:pPr indent="0" marL="0">
              <a:buNone/>
            </a:pPr>
            <a:r>
              <a:rPr lang="en-US" sz="1200" b="1" spc="200" kern="0" dirty="0">
                <a:solidFill>
                  <a:srgbClr val="0B63B6"/>
                </a:solidFill>
                <a:latin typeface="Calibri" pitchFamily="34" charset="0"/>
                <a:ea typeface="Calibri" pitchFamily="34" charset="-122"/>
                <a:cs typeface="Calibri" pitchFamily="34" charset="-120"/>
              </a:rPr>
              <a:t>LIVE DEMO — 3 OF 5</a:t>
            </a:r>
            <a:endParaRPr lang="en-US" sz="1200" dirty="0"/>
          </a:p>
        </p:txBody>
      </p:sp>
      <p:sp>
        <p:nvSpPr>
          <p:cNvPr id="3" name="Text 1"/>
          <p:cNvSpPr txBox="1"/>
          <p:nvPr/>
        </p:nvSpPr>
        <p:spPr>
          <a:xfrm>
            <a:off x="502920" y="548640"/>
            <a:ext cx="11155680" cy="640080"/>
          </a:xfrm>
          <a:prstGeom prst="rect">
            <a:avLst/>
          </a:prstGeom>
          <a:noFill/>
          <a:ln/>
        </p:spPr>
        <p:txBody>
          <a:bodyPr wrap="square" lIns="0" tIns="0" rIns="0" bIns="0" rtlCol="0" anchor="ctr"/>
          <a:lstStyle/>
          <a:p>
            <a:pPr indent="0" marL="0">
              <a:buNone/>
            </a:pPr>
            <a:r>
              <a:rPr lang="en-US" sz="3000" b="1" dirty="0">
                <a:solidFill>
                  <a:srgbClr val="182033"/>
                </a:solidFill>
                <a:latin typeface="Cambria" pitchFamily="34" charset="0"/>
                <a:ea typeface="Cambria" pitchFamily="34" charset="-122"/>
                <a:cs typeface="Cambria" pitchFamily="34" charset="-120"/>
              </a:rPr>
              <a:t>Fault Injection — Isolated vs. Systemic Faults</a:t>
            </a:r>
            <a:endParaRPr lang="en-US" sz="3000" dirty="0"/>
          </a:p>
        </p:txBody>
      </p:sp>
      <p:sp>
        <p:nvSpPr>
          <p:cNvPr id="4" name="Text 2"/>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400" dirty="0">
                <a:solidFill>
                  <a:srgbClr val="5B6577"/>
                </a:solidFill>
                <a:latin typeface="Calibri" pitchFamily="34" charset="0"/>
                <a:ea typeface="Calibri" pitchFamily="34" charset="-122"/>
                <a:cs typeface="Calibri" pitchFamily="34" charset="-120"/>
              </a:rPr>
              <a:t>Same real 30-minute window, corrupted in memory with a synthetic fault, scored by the real engine</a:t>
            </a:r>
            <a:endParaRPr lang="en-US" sz="1400" dirty="0"/>
          </a:p>
        </p:txBody>
      </p:sp>
      <p:pic>
        <p:nvPicPr>
          <p:cNvPr id="5" name="Image 0" descr="C:/Users/hp/AppData/Local/Temp/claude/d--Projects-Data-Management-Project/f1637f22-c154-4314-8b40-9aace7c62ede/scratchpad/deck_shots/04-fault-spike.png">    </p:cNvPr>
          <p:cNvPicPr>
            <a:picLocks noChangeAspect="1"/>
          </p:cNvPicPr>
          <p:nvPr/>
        </p:nvPicPr>
        <p:blipFill>
          <a:blip r:embed="rId1"/>
          <a:stretch>
            <a:fillRect/>
          </a:stretch>
        </p:blipFill>
        <p:spPr>
          <a:xfrm>
            <a:off x="502920" y="1888014"/>
            <a:ext cx="5440680" cy="2304733"/>
          </a:xfrm>
          <a:prstGeom prst="rect">
            <a:avLst/>
          </a:prstGeom>
          <a:effectLst>
            <a:outerShdw sx="100000" sy="100000" kx="0" ky="0" algn="bl" rotWithShape="0" blurRad="127000" dist="38100" dir="5400000">
              <a:srgbClr val="182033">
                <a:alpha val="25000"/>
              </a:srgbClr>
            </a:outerShdw>
          </a:effectLst>
        </p:spPr>
      </p:pic>
      <p:sp>
        <p:nvSpPr>
          <p:cNvPr id="6" name="Shape 3"/>
          <p:cNvSpPr/>
          <p:nvPr/>
        </p:nvSpPr>
        <p:spPr>
          <a:xfrm>
            <a:off x="502920" y="1888014"/>
            <a:ext cx="5440680" cy="2304733"/>
          </a:xfrm>
          <a:prstGeom prst="rect">
            <a:avLst/>
          </a:prstGeom>
          <a:solidFill>
            <a:srgbClr val="FFFFFF">
              <a:alpha val="0"/>
            </a:srgbClr>
          </a:solidFill>
          <a:ln w="9525">
            <a:solidFill>
              <a:srgbClr val="DDE3EC"/>
            </a:solidFill>
            <a:prstDash val="solid"/>
          </a:ln>
        </p:spPr>
      </p:sp>
      <p:pic>
        <p:nvPicPr>
          <p:cNvPr id="7" name="Image 1" descr="C:/Users/hp/AppData/Local/Temp/claude/d--Projects-Data-Management-Project/f1637f22-c154-4314-8b40-9aace7c62ede/scratchpad/deck_shots/05-fault-drift.png">    </p:cNvPr>
          <p:cNvPicPr>
            <a:picLocks noChangeAspect="1"/>
          </p:cNvPicPr>
          <p:nvPr/>
        </p:nvPicPr>
        <p:blipFill>
          <a:blip r:embed="rId2"/>
          <a:stretch>
            <a:fillRect/>
          </a:stretch>
        </p:blipFill>
        <p:spPr>
          <a:xfrm>
            <a:off x="6263640" y="1888014"/>
            <a:ext cx="5440680" cy="2304733"/>
          </a:xfrm>
          <a:prstGeom prst="rect">
            <a:avLst/>
          </a:prstGeom>
          <a:effectLst>
            <a:outerShdw sx="100000" sy="100000" kx="0" ky="0" algn="bl" rotWithShape="0" blurRad="127000" dist="38100" dir="5400000">
              <a:srgbClr val="182033">
                <a:alpha val="25000"/>
              </a:srgbClr>
            </a:outerShdw>
          </a:effectLst>
        </p:spPr>
      </p:pic>
      <p:sp>
        <p:nvSpPr>
          <p:cNvPr id="8" name="Shape 4"/>
          <p:cNvSpPr/>
          <p:nvPr/>
        </p:nvSpPr>
        <p:spPr>
          <a:xfrm>
            <a:off x="6263640" y="1888014"/>
            <a:ext cx="5440680" cy="2304733"/>
          </a:xfrm>
          <a:prstGeom prst="rect">
            <a:avLst/>
          </a:prstGeom>
          <a:solidFill>
            <a:srgbClr val="FFFFFF">
              <a:alpha val="0"/>
            </a:srgbClr>
          </a:solidFill>
          <a:ln w="9525">
            <a:solidFill>
              <a:srgbClr val="DDE3EC"/>
            </a:solidFill>
            <a:prstDash val="solid"/>
          </a:ln>
        </p:spPr>
      </p:sp>
      <p:sp>
        <p:nvSpPr>
          <p:cNvPr id="9" name="Shape 5"/>
          <p:cNvSpPr/>
          <p:nvPr/>
        </p:nvSpPr>
        <p:spPr>
          <a:xfrm>
            <a:off x="502920" y="4434840"/>
            <a:ext cx="5440680" cy="1600200"/>
          </a:xfrm>
          <a:prstGeom prst="roundRect">
            <a:avLst>
              <a:gd name="adj" fmla="val 4571"/>
            </a:avLst>
          </a:prstGeom>
          <a:solidFill>
            <a:srgbClr val="E4F5EC"/>
          </a:solidFill>
          <a:ln w="9525">
            <a:solidFill>
              <a:srgbClr val="BEE3CE"/>
            </a:solidFill>
            <a:prstDash val="solid"/>
          </a:ln>
        </p:spPr>
      </p:sp>
      <p:sp>
        <p:nvSpPr>
          <p:cNvPr id="10" name="Text 6"/>
          <p:cNvSpPr txBox="1"/>
          <p:nvPr/>
        </p:nvSpPr>
        <p:spPr>
          <a:xfrm>
            <a:off x="685800" y="4572000"/>
            <a:ext cx="5074920" cy="365760"/>
          </a:xfrm>
          <a:prstGeom prst="rect">
            <a:avLst/>
          </a:prstGeom>
          <a:noFill/>
          <a:ln/>
        </p:spPr>
        <p:txBody>
          <a:bodyPr wrap="square" lIns="0" tIns="0" rIns="0" bIns="0" rtlCol="0" anchor="ctr"/>
          <a:lstStyle/>
          <a:p>
            <a:pPr indent="0" marL="0">
              <a:buNone/>
            </a:pPr>
            <a:r>
              <a:rPr lang="en-US" sz="1350" b="1" dirty="0">
                <a:solidFill>
                  <a:srgbClr val="14743F"/>
                </a:solidFill>
                <a:latin typeface="Cambria" pitchFamily="34" charset="0"/>
                <a:ea typeface="Cambria" pitchFamily="34" charset="-122"/>
                <a:cs typeface="Cambria" pitchFamily="34" charset="-120"/>
              </a:rPr>
              <a:t>Isolated fault → excluded, not trusted-away</a:t>
            </a:r>
            <a:endParaRPr lang="en-US" sz="1350" dirty="0"/>
          </a:p>
        </p:txBody>
      </p:sp>
      <p:sp>
        <p:nvSpPr>
          <p:cNvPr id="11" name="Text 7"/>
          <p:cNvSpPr txBox="1"/>
          <p:nvPr/>
        </p:nvSpPr>
        <p:spPr>
          <a:xfrm>
            <a:off x="685800" y="4937760"/>
            <a:ext cx="5074920" cy="1005840"/>
          </a:xfrm>
          <a:prstGeom prst="rect">
            <a:avLst/>
          </a:prstGeom>
          <a:noFill/>
          <a:ln/>
        </p:spPr>
        <p:txBody>
          <a:bodyPr wrap="square" lIns="0" tIns="0" rIns="0" bIns="0" rtlCol="0" anchor="ctr"/>
          <a:lstStyle/>
          <a:p>
            <a:pPr indent="0" marL="0">
              <a:lnSpc>
                <a:spcPct val="115000"/>
              </a:lnSpc>
              <a:buNone/>
            </a:pPr>
            <a:r>
              <a:rPr lang="en-US" sz="1200" dirty="0">
                <a:solidFill>
                  <a:srgbClr val="182033"/>
                </a:solidFill>
                <a:latin typeface="Calibri" pitchFamily="34" charset="0"/>
                <a:ea typeface="Calibri" pitchFamily="34" charset="-122"/>
                <a:cs typeface="Calibri" pitchFamily="34" charset="-120"/>
              </a:rPr>
              <a:t>100 → 99.7, stays High. One bad reading is flagged and excluded downstream — it doesn't need to poison the whole window.</a:t>
            </a:r>
            <a:endParaRPr lang="en-US" sz="1200" dirty="0"/>
          </a:p>
        </p:txBody>
      </p:sp>
      <p:sp>
        <p:nvSpPr>
          <p:cNvPr id="12" name="Shape 8"/>
          <p:cNvSpPr/>
          <p:nvPr/>
        </p:nvSpPr>
        <p:spPr>
          <a:xfrm>
            <a:off x="6263640" y="4434840"/>
            <a:ext cx="5440680" cy="1600200"/>
          </a:xfrm>
          <a:prstGeom prst="roundRect">
            <a:avLst>
              <a:gd name="adj" fmla="val 4571"/>
            </a:avLst>
          </a:prstGeom>
          <a:solidFill>
            <a:srgbClr val="FDF1D6"/>
          </a:solidFill>
          <a:ln w="9525">
            <a:solidFill>
              <a:srgbClr val="F0DBA0"/>
            </a:solidFill>
            <a:prstDash val="solid"/>
          </a:ln>
        </p:spPr>
      </p:sp>
      <p:sp>
        <p:nvSpPr>
          <p:cNvPr id="13" name="Text 9"/>
          <p:cNvSpPr txBox="1"/>
          <p:nvPr/>
        </p:nvSpPr>
        <p:spPr>
          <a:xfrm>
            <a:off x="6446520" y="4572000"/>
            <a:ext cx="5074920" cy="365760"/>
          </a:xfrm>
          <a:prstGeom prst="rect">
            <a:avLst/>
          </a:prstGeom>
          <a:noFill/>
          <a:ln/>
        </p:spPr>
        <p:txBody>
          <a:bodyPr wrap="square" lIns="0" tIns="0" rIns="0" bIns="0" rtlCol="0" anchor="ctr"/>
          <a:lstStyle/>
          <a:p>
            <a:pPr indent="0" marL="0">
              <a:buNone/>
            </a:pPr>
            <a:r>
              <a:rPr lang="en-US" sz="1350" b="1" dirty="0">
                <a:solidFill>
                  <a:srgbClr val="8A5A00"/>
                </a:solidFill>
                <a:latin typeface="Cambria" pitchFamily="34" charset="0"/>
                <a:ea typeface="Cambria" pitchFamily="34" charset="-122"/>
                <a:cs typeface="Cambria" pitchFamily="34" charset="-120"/>
              </a:rPr>
              <a:t>Systemic fault → the whole window loses trust</a:t>
            </a:r>
            <a:endParaRPr lang="en-US" sz="1350" dirty="0"/>
          </a:p>
        </p:txBody>
      </p:sp>
      <p:sp>
        <p:nvSpPr>
          <p:cNvPr id="14" name="Text 10"/>
          <p:cNvSpPr txBox="1"/>
          <p:nvPr/>
        </p:nvSpPr>
        <p:spPr>
          <a:xfrm>
            <a:off x="6446520" y="4937760"/>
            <a:ext cx="5074920" cy="1005840"/>
          </a:xfrm>
          <a:prstGeom prst="rect">
            <a:avLst/>
          </a:prstGeom>
          <a:noFill/>
          <a:ln/>
        </p:spPr>
        <p:txBody>
          <a:bodyPr wrap="square" lIns="0" tIns="0" rIns="0" bIns="0" rtlCol="0" anchor="ctr"/>
          <a:lstStyle/>
          <a:p>
            <a:pPr indent="0" marL="0">
              <a:lnSpc>
                <a:spcPct val="115000"/>
              </a:lnSpc>
              <a:buNone/>
            </a:pPr>
            <a:r>
              <a:rPr lang="en-US" sz="1200" dirty="0">
                <a:solidFill>
                  <a:srgbClr val="182033"/>
                </a:solidFill>
                <a:latin typeface="Calibri" pitchFamily="34" charset="0"/>
                <a:ea typeface="Calibri" pitchFamily="34" charset="-122"/>
                <a:cs typeface="Calibri" pitchFamily="34" charset="-120"/>
              </a:rPr>
              <a:t>100 → 80, drops to Medium. Drift biases every reading in the window, not just one — so it can never be rated High.</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02920" y="292608"/>
            <a:ext cx="8229600" cy="274320"/>
          </a:xfrm>
          <a:prstGeom prst="rect">
            <a:avLst/>
          </a:prstGeom>
          <a:noFill/>
          <a:ln/>
        </p:spPr>
        <p:txBody>
          <a:bodyPr wrap="square" rtlCol="0" anchor="ctr"/>
          <a:lstStyle/>
          <a:p>
            <a:pPr indent="0" marL="0">
              <a:buNone/>
            </a:pPr>
            <a:r>
              <a:rPr lang="en-US" sz="1200" b="1" spc="200" kern="0" dirty="0">
                <a:solidFill>
                  <a:srgbClr val="0B63B6"/>
                </a:solidFill>
                <a:latin typeface="Calibri" pitchFamily="34" charset="0"/>
                <a:ea typeface="Calibri" pitchFamily="34" charset="-122"/>
                <a:cs typeface="Calibri" pitchFamily="34" charset="-120"/>
              </a:rPr>
              <a:t>LIVE DEMO — 4 OF 5</a:t>
            </a:r>
            <a:endParaRPr lang="en-US" sz="1200" dirty="0"/>
          </a:p>
        </p:txBody>
      </p:sp>
      <p:sp>
        <p:nvSpPr>
          <p:cNvPr id="3" name="Text 1"/>
          <p:cNvSpPr txBox="1"/>
          <p:nvPr/>
        </p:nvSpPr>
        <p:spPr>
          <a:xfrm>
            <a:off x="502920" y="548640"/>
            <a:ext cx="11155680" cy="640080"/>
          </a:xfrm>
          <a:prstGeom prst="rect">
            <a:avLst/>
          </a:prstGeom>
          <a:noFill/>
          <a:ln/>
        </p:spPr>
        <p:txBody>
          <a:bodyPr wrap="square" lIns="0" tIns="0" rIns="0" bIns="0" rtlCol="0" anchor="ctr"/>
          <a:lstStyle/>
          <a:p>
            <a:pPr indent="0" marL="0">
              <a:buNone/>
            </a:pPr>
            <a:r>
              <a:rPr lang="en-US" sz="3000" b="1" dirty="0">
                <a:solidFill>
                  <a:srgbClr val="182033"/>
                </a:solidFill>
                <a:latin typeface="Cambria" pitchFamily="34" charset="0"/>
                <a:ea typeface="Cambria" pitchFamily="34" charset="-122"/>
                <a:cs typeface="Cambria" pitchFamily="34" charset="-120"/>
              </a:rPr>
              <a:t>Alerts &amp; Risk Impact — From Detection to a Dollar Figure</a:t>
            </a:r>
            <a:endParaRPr lang="en-US" sz="3000" dirty="0"/>
          </a:p>
        </p:txBody>
      </p:sp>
      <p:pic>
        <p:nvPicPr>
          <p:cNvPr id="4" name="Image 0" descr="C:/Users/hp/AppData/Local/Temp/claude/d--Projects-Data-Management-Project/f1637f22-c154-4314-8b40-9aace7c62ede/scratchpad/deck_shots/06-alerts.png">    </p:cNvPr>
          <p:cNvPicPr>
            <a:picLocks noChangeAspect="1"/>
          </p:cNvPicPr>
          <p:nvPr/>
        </p:nvPicPr>
        <p:blipFill>
          <a:blip r:embed="rId1"/>
          <a:stretch>
            <a:fillRect/>
          </a:stretch>
        </p:blipFill>
        <p:spPr>
          <a:xfrm>
            <a:off x="502920" y="2202180"/>
            <a:ext cx="5486400" cy="2133600"/>
          </a:xfrm>
          <a:prstGeom prst="rect">
            <a:avLst/>
          </a:prstGeom>
          <a:effectLst>
            <a:outerShdw sx="100000" sy="100000" kx="0" ky="0" algn="bl" rotWithShape="0" blurRad="127000" dist="38100" dir="5400000">
              <a:srgbClr val="182033">
                <a:alpha val="25000"/>
              </a:srgbClr>
            </a:outerShdw>
          </a:effectLst>
        </p:spPr>
      </p:pic>
      <p:sp>
        <p:nvSpPr>
          <p:cNvPr id="5" name="Shape 2"/>
          <p:cNvSpPr/>
          <p:nvPr/>
        </p:nvSpPr>
        <p:spPr>
          <a:xfrm>
            <a:off x="502920" y="2202180"/>
            <a:ext cx="5486400" cy="2133600"/>
          </a:xfrm>
          <a:prstGeom prst="rect">
            <a:avLst/>
          </a:prstGeom>
          <a:solidFill>
            <a:srgbClr val="FFFFFF">
              <a:alpha val="0"/>
            </a:srgbClr>
          </a:solidFill>
          <a:ln w="9525">
            <a:solidFill>
              <a:srgbClr val="DDE3EC"/>
            </a:solidFill>
            <a:prstDash val="solid"/>
          </a:ln>
        </p:spPr>
      </p:sp>
      <p:pic>
        <p:nvPicPr>
          <p:cNvPr id="6" name="Image 1" descr="C:/Users/hp/AppData/Local/Temp/claude/d--Projects-Data-Management-Project/f1637f22-c154-4314-8b40-9aace7c62ede/scratchpad/deck_shots/07-impact-top.png">    </p:cNvPr>
          <p:cNvPicPr>
            <a:picLocks noChangeAspect="1"/>
          </p:cNvPicPr>
          <p:nvPr/>
        </p:nvPicPr>
        <p:blipFill>
          <a:blip r:embed="rId2"/>
          <a:stretch>
            <a:fillRect/>
          </a:stretch>
        </p:blipFill>
        <p:spPr>
          <a:xfrm>
            <a:off x="6263640" y="2059940"/>
            <a:ext cx="5440680" cy="2418080"/>
          </a:xfrm>
          <a:prstGeom prst="rect">
            <a:avLst/>
          </a:prstGeom>
          <a:effectLst>
            <a:outerShdw sx="100000" sy="100000" kx="0" ky="0" algn="bl" rotWithShape="0" blurRad="127000" dist="38100" dir="5400000">
              <a:srgbClr val="182033">
                <a:alpha val="25000"/>
              </a:srgbClr>
            </a:outerShdw>
          </a:effectLst>
        </p:spPr>
      </p:pic>
      <p:sp>
        <p:nvSpPr>
          <p:cNvPr id="7" name="Shape 3"/>
          <p:cNvSpPr/>
          <p:nvPr/>
        </p:nvSpPr>
        <p:spPr>
          <a:xfrm>
            <a:off x="6263640" y="2059940"/>
            <a:ext cx="5440680" cy="2418080"/>
          </a:xfrm>
          <a:prstGeom prst="rect">
            <a:avLst/>
          </a:prstGeom>
          <a:solidFill>
            <a:srgbClr val="FFFFFF">
              <a:alpha val="0"/>
            </a:srgbClr>
          </a:solidFill>
          <a:ln w="9525">
            <a:solidFill>
              <a:srgbClr val="DDE3EC"/>
            </a:solidFill>
            <a:prstDash val="solid"/>
          </a:ln>
        </p:spPr>
      </p:sp>
      <p:sp>
        <p:nvSpPr>
          <p:cNvPr id="8" name="Text 4"/>
          <p:cNvSpPr txBox="1"/>
          <p:nvPr/>
        </p:nvSpPr>
        <p:spPr>
          <a:xfrm>
            <a:off x="502920" y="4892040"/>
            <a:ext cx="11201400" cy="1005840"/>
          </a:xfrm>
          <a:prstGeom prst="rect">
            <a:avLst/>
          </a:prstGeom>
          <a:noFill/>
          <a:ln/>
        </p:spPr>
        <p:txBody>
          <a:bodyPr wrap="square" lIns="0" tIns="0" rIns="0" bIns="0" rtlCol="0" anchor="ctr"/>
          <a:lstStyle/>
          <a:p>
            <a:pPr indent="0" marL="0">
              <a:lnSpc>
                <a:spcPct val="130000"/>
              </a:lnSpc>
              <a:buNone/>
            </a:pPr>
            <a:r>
              <a:rPr lang="en-US" sz="1300" dirty="0">
                <a:solidFill>
                  <a:srgbClr val="182033"/>
                </a:solidFill>
                <a:latin typeface="Calibri" pitchFamily="34" charset="0"/>
                <a:ea typeface="Calibri" pitchFamily="34" charset="-122"/>
                <a:cs typeface="Calibri" pitchFamily="34" charset="-120"/>
              </a:rPr>
              <a:t>Confirmed excursions (rule-based) vs. early warnings (Isolation Forest, quality-filtered data only)  •  </a:t>
            </a:r>
            <a:pPr indent="0" marL="0">
              <a:lnSpc>
                <a:spcPct val="130000"/>
              </a:lnSpc>
              <a:buNone/>
            </a:pPr>
            <a:r>
              <a:rPr lang="en-US" sz="1300" dirty="0">
                <a:solidFill>
                  <a:srgbClr val="182033"/>
                </a:solidFill>
                <a:latin typeface="Calibri" pitchFamily="34" charset="0"/>
                <a:ea typeface="Calibri" pitchFamily="34" charset="-122"/>
                <a:cs typeface="Calibri" pitchFamily="34" charset="-120"/>
              </a:rPr>
              <a:t>Revenue at risk = exposed sales × spoilage probability, which rises with minutes spent above the safe limit  •  </a:t>
            </a:r>
            <a:pPr indent="0" marL="0">
              <a:lnSpc>
                <a:spcPct val="130000"/>
              </a:lnSpc>
              <a:buNone/>
            </a:pPr>
            <a:r>
              <a:rPr lang="en-US" sz="1300" dirty="0">
                <a:solidFill>
                  <a:srgbClr val="182033"/>
                </a:solidFill>
                <a:latin typeface="Calibri" pitchFamily="34" charset="0"/>
                <a:ea typeface="Calibri" pitchFamily="34" charset="-122"/>
                <a:cs typeface="Calibri" pitchFamily="34" charset="-120"/>
              </a:rPr>
              <a:t>Every acknowledgement and every estimate carries the data-trust score behind it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502920" y="292608"/>
            <a:ext cx="8229600" cy="274320"/>
          </a:xfrm>
          <a:prstGeom prst="rect">
            <a:avLst/>
          </a:prstGeom>
          <a:noFill/>
          <a:ln/>
        </p:spPr>
        <p:txBody>
          <a:bodyPr wrap="square" rtlCol="0" anchor="ctr"/>
          <a:lstStyle/>
          <a:p>
            <a:pPr indent="0" marL="0">
              <a:buNone/>
            </a:pPr>
            <a:r>
              <a:rPr lang="en-US" sz="1200" b="1" spc="200" kern="0" dirty="0">
                <a:solidFill>
                  <a:srgbClr val="0B63B6"/>
                </a:solidFill>
                <a:latin typeface="Calibri" pitchFamily="34" charset="0"/>
                <a:ea typeface="Calibri" pitchFamily="34" charset="-122"/>
                <a:cs typeface="Calibri" pitchFamily="34" charset="-120"/>
              </a:rPr>
              <a:t>LIVE DEMO — 5 OF 5</a:t>
            </a:r>
            <a:endParaRPr lang="en-US" sz="1200" dirty="0"/>
          </a:p>
        </p:txBody>
      </p:sp>
      <p:sp>
        <p:nvSpPr>
          <p:cNvPr id="3" name="Text 1"/>
          <p:cNvSpPr txBox="1"/>
          <p:nvPr/>
        </p:nvSpPr>
        <p:spPr>
          <a:xfrm>
            <a:off x="502920" y="548640"/>
            <a:ext cx="11155680" cy="640080"/>
          </a:xfrm>
          <a:prstGeom prst="rect">
            <a:avLst/>
          </a:prstGeom>
          <a:noFill/>
          <a:ln/>
        </p:spPr>
        <p:txBody>
          <a:bodyPr wrap="square" lIns="0" tIns="0" rIns="0" bIns="0" rtlCol="0" anchor="ctr"/>
          <a:lstStyle/>
          <a:p>
            <a:pPr indent="0" marL="0">
              <a:buNone/>
            </a:pPr>
            <a:r>
              <a:rPr lang="en-US" sz="3000" b="1" dirty="0">
                <a:solidFill>
                  <a:srgbClr val="182033"/>
                </a:solidFill>
                <a:latin typeface="Cambria" pitchFamily="34" charset="0"/>
                <a:ea typeface="Cambria" pitchFamily="34" charset="-122"/>
                <a:cs typeface="Cambria" pitchFamily="34" charset="-120"/>
              </a:rPr>
              <a:t>Reports &amp; Enterprise Access Control</a:t>
            </a:r>
            <a:endParaRPr lang="en-US" sz="3000" dirty="0"/>
          </a:p>
        </p:txBody>
      </p:sp>
      <p:pic>
        <p:nvPicPr>
          <p:cNvPr id="4" name="Image 0" descr="C:/Users/hp/AppData/Local/Temp/claude/d--Projects-Data-Management-Project/f1637f22-c154-4314-8b40-9aace7c62ede/scratchpad/deck_shots/08-reports.png">    </p:cNvPr>
          <p:cNvPicPr>
            <a:picLocks noChangeAspect="1"/>
          </p:cNvPicPr>
          <p:nvPr/>
        </p:nvPicPr>
        <p:blipFill>
          <a:blip r:embed="rId1"/>
          <a:stretch>
            <a:fillRect/>
          </a:stretch>
        </p:blipFill>
        <p:spPr>
          <a:xfrm>
            <a:off x="502920" y="1889760"/>
            <a:ext cx="5486400" cy="2895600"/>
          </a:xfrm>
          <a:prstGeom prst="rect">
            <a:avLst/>
          </a:prstGeom>
          <a:effectLst>
            <a:outerShdw sx="100000" sy="100000" kx="0" ky="0" algn="bl" rotWithShape="0" blurRad="127000" dist="38100" dir="5400000">
              <a:srgbClr val="182033">
                <a:alpha val="25000"/>
              </a:srgbClr>
            </a:outerShdw>
          </a:effectLst>
        </p:spPr>
      </p:pic>
      <p:sp>
        <p:nvSpPr>
          <p:cNvPr id="5" name="Shape 2"/>
          <p:cNvSpPr/>
          <p:nvPr/>
        </p:nvSpPr>
        <p:spPr>
          <a:xfrm>
            <a:off x="502920" y="1889760"/>
            <a:ext cx="5486400" cy="2895600"/>
          </a:xfrm>
          <a:prstGeom prst="rect">
            <a:avLst/>
          </a:prstGeom>
          <a:solidFill>
            <a:srgbClr val="FFFFFF">
              <a:alpha val="0"/>
            </a:srgbClr>
          </a:solidFill>
          <a:ln w="9525">
            <a:solidFill>
              <a:srgbClr val="DDE3EC"/>
            </a:solidFill>
            <a:prstDash val="solid"/>
          </a:ln>
        </p:spPr>
      </p:sp>
      <p:pic>
        <p:nvPicPr>
          <p:cNvPr id="6" name="Image 1" descr="C:/Users/hp/AppData/Local/Temp/claude/d--Projects-Data-Management-Project/f1637f22-c154-4314-8b40-9aace7c62ede/scratchpad/deck_shots/09-users.png">    </p:cNvPr>
          <p:cNvPicPr>
            <a:picLocks noChangeAspect="1"/>
          </p:cNvPicPr>
          <p:nvPr/>
        </p:nvPicPr>
        <p:blipFill>
          <a:blip r:embed="rId2"/>
          <a:stretch>
            <a:fillRect/>
          </a:stretch>
        </p:blipFill>
        <p:spPr>
          <a:xfrm>
            <a:off x="6811366" y="1828800"/>
            <a:ext cx="4345229" cy="3017520"/>
          </a:xfrm>
          <a:prstGeom prst="rect">
            <a:avLst/>
          </a:prstGeom>
          <a:effectLst>
            <a:outerShdw sx="100000" sy="100000" kx="0" ky="0" algn="bl" rotWithShape="0" blurRad="127000" dist="38100" dir="5400000">
              <a:srgbClr val="182033">
                <a:alpha val="25000"/>
              </a:srgbClr>
            </a:outerShdw>
          </a:effectLst>
        </p:spPr>
      </p:pic>
      <p:sp>
        <p:nvSpPr>
          <p:cNvPr id="7" name="Shape 3"/>
          <p:cNvSpPr/>
          <p:nvPr/>
        </p:nvSpPr>
        <p:spPr>
          <a:xfrm>
            <a:off x="6811366" y="1828800"/>
            <a:ext cx="4345229" cy="3017520"/>
          </a:xfrm>
          <a:prstGeom prst="rect">
            <a:avLst/>
          </a:prstGeom>
          <a:solidFill>
            <a:srgbClr val="FFFFFF">
              <a:alpha val="0"/>
            </a:srgbClr>
          </a:solidFill>
          <a:ln w="9525">
            <a:solidFill>
              <a:srgbClr val="DDE3EC"/>
            </a:solidFill>
            <a:prstDash val="solid"/>
          </a:ln>
        </p:spPr>
      </p:sp>
      <p:sp>
        <p:nvSpPr>
          <p:cNvPr id="8" name="Text 4"/>
          <p:cNvSpPr txBox="1"/>
          <p:nvPr/>
        </p:nvSpPr>
        <p:spPr>
          <a:xfrm>
            <a:off x="502920" y="5074920"/>
            <a:ext cx="11201400" cy="822960"/>
          </a:xfrm>
          <a:prstGeom prst="rect">
            <a:avLst/>
          </a:prstGeom>
          <a:noFill/>
          <a:ln/>
        </p:spPr>
        <p:txBody>
          <a:bodyPr wrap="square" lIns="0" tIns="0" rIns="0" bIns="0" rtlCol="0" anchor="ctr"/>
          <a:lstStyle/>
          <a:p>
            <a:pPr indent="0" marL="0">
              <a:lnSpc>
                <a:spcPct val="130000"/>
              </a:lnSpc>
              <a:buNone/>
            </a:pPr>
            <a:r>
              <a:rPr lang="en-US" sz="1300" dirty="0">
                <a:solidFill>
                  <a:srgbClr val="182033"/>
                </a:solidFill>
                <a:latin typeface="Calibri" pitchFamily="34" charset="0"/>
                <a:ea typeface="Calibri" pitchFamily="34" charset="-122"/>
                <a:cs typeface="Calibri" pitchFamily="34" charset="-120"/>
              </a:rPr>
              <a:t>PDF export of the combined quality / alerts / impact summary  •  </a:t>
            </a:r>
            <a:pPr indent="0" marL="0">
              <a:lnSpc>
                <a:spcPct val="130000"/>
              </a:lnSpc>
              <a:buNone/>
            </a:pPr>
            <a:r>
              <a:rPr lang="en-US" sz="1300" dirty="0">
                <a:solidFill>
                  <a:srgbClr val="182033"/>
                </a:solidFill>
                <a:latin typeface="Calibri" pitchFamily="34" charset="0"/>
                <a:ea typeface="Calibri" pitchFamily="34" charset="-122"/>
                <a:cs typeface="Calibri" pitchFamily="34" charset="-120"/>
              </a:rPr>
              <a:t>4-tier role hierarchy — Staff, Quality Supervisor, Operations Manager, Administrator — enforced server-side on every request, not just hidden in the UI</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8229600" cy="274320"/>
          </a:xfrm>
          <a:prstGeom prst="rect">
            <a:avLst/>
          </a:prstGeom>
          <a:noFill/>
          <a:ln/>
        </p:spPr>
        <p:txBody>
          <a:bodyPr wrap="square" rtlCol="0" anchor="ctr"/>
          <a:lstStyle/>
          <a:p>
            <a:pPr indent="0" marL="0">
              <a:buNone/>
            </a:pPr>
            <a:r>
              <a:rPr lang="en-US" sz="1200" b="1" spc="200" kern="0" dirty="0">
                <a:solidFill>
                  <a:srgbClr val="0B63B6"/>
                </a:solidFill>
                <a:latin typeface="Calibri" pitchFamily="34" charset="0"/>
                <a:ea typeface="Calibri" pitchFamily="34" charset="-122"/>
                <a:cs typeface="Calibri" pitchFamily="34" charset="-120"/>
              </a:rPr>
              <a:t>INTELLECTUAL HONESTY</a:t>
            </a:r>
            <a:endParaRPr lang="en-US" sz="1200" dirty="0"/>
          </a:p>
        </p:txBody>
      </p:sp>
      <p:sp>
        <p:nvSpPr>
          <p:cNvPr id="3" name="Text 1"/>
          <p:cNvSpPr txBox="1"/>
          <p:nvPr/>
        </p:nvSpPr>
        <p:spPr>
          <a:xfrm>
            <a:off x="502920" y="548640"/>
            <a:ext cx="11155680" cy="640080"/>
          </a:xfrm>
          <a:prstGeom prst="rect">
            <a:avLst/>
          </a:prstGeom>
          <a:noFill/>
          <a:ln/>
        </p:spPr>
        <p:txBody>
          <a:bodyPr wrap="square" lIns="0" tIns="0" rIns="0" bIns="0" rtlCol="0" anchor="ctr"/>
          <a:lstStyle/>
          <a:p>
            <a:pPr indent="0" marL="0">
              <a:buNone/>
            </a:pPr>
            <a:r>
              <a:rPr lang="en-US" sz="3000" b="1" dirty="0">
                <a:solidFill>
                  <a:srgbClr val="182033"/>
                </a:solidFill>
                <a:latin typeface="Cambria" pitchFamily="34" charset="0"/>
                <a:ea typeface="Cambria" pitchFamily="34" charset="-122"/>
                <a:cs typeface="Cambria" pitchFamily="34" charset="-120"/>
              </a:rPr>
              <a:t>What This System Cannot Do Yet — Named on Purpose</a:t>
            </a:r>
            <a:endParaRPr lang="en-US" sz="3000" dirty="0"/>
          </a:p>
        </p:txBody>
      </p:sp>
      <p:pic>
        <p:nvPicPr>
          <p:cNvPr id="4" name="Image 0" descr="C:/Users/hp/AppData/Local/Temp/claude/d--Projects-Data-Management-Project/f1637f22-c154-4314-8b40-9aace7c62ede/scratchpad/deck_shots/10-staff-restricted.png">    </p:cNvPr>
          <p:cNvPicPr>
            <a:picLocks noChangeAspect="1"/>
          </p:cNvPicPr>
          <p:nvPr/>
        </p:nvPicPr>
        <p:blipFill>
          <a:blip r:embed="rId1"/>
          <a:stretch>
            <a:fillRect/>
          </a:stretch>
        </p:blipFill>
        <p:spPr>
          <a:xfrm>
            <a:off x="502920" y="2018983"/>
            <a:ext cx="5029200" cy="1082675"/>
          </a:xfrm>
          <a:prstGeom prst="rect">
            <a:avLst/>
          </a:prstGeom>
          <a:effectLst>
            <a:outerShdw sx="100000" sy="100000" kx="0" ky="0" algn="bl" rotWithShape="0" blurRad="127000" dist="38100" dir="5400000">
              <a:srgbClr val="182033">
                <a:alpha val="25000"/>
              </a:srgbClr>
            </a:outerShdw>
          </a:effectLst>
        </p:spPr>
      </p:pic>
      <p:sp>
        <p:nvSpPr>
          <p:cNvPr id="5" name="Shape 2"/>
          <p:cNvSpPr/>
          <p:nvPr/>
        </p:nvSpPr>
        <p:spPr>
          <a:xfrm>
            <a:off x="502920" y="2018983"/>
            <a:ext cx="5029200" cy="1082675"/>
          </a:xfrm>
          <a:prstGeom prst="rect">
            <a:avLst/>
          </a:prstGeom>
          <a:solidFill>
            <a:srgbClr val="FFFFFF">
              <a:alpha val="0"/>
            </a:srgbClr>
          </a:solidFill>
          <a:ln w="9525">
            <a:solidFill>
              <a:srgbClr val="DDE3EC"/>
            </a:solidFill>
            <a:prstDash val="solid"/>
          </a:ln>
        </p:spPr>
      </p:sp>
      <p:sp>
        <p:nvSpPr>
          <p:cNvPr id="6" name="Text 3"/>
          <p:cNvSpPr txBox="1"/>
          <p:nvPr/>
        </p:nvSpPr>
        <p:spPr>
          <a:xfrm>
            <a:off x="502920" y="3364992"/>
            <a:ext cx="5029200" cy="365760"/>
          </a:xfrm>
          <a:prstGeom prst="rect">
            <a:avLst/>
          </a:prstGeom>
          <a:noFill/>
          <a:ln/>
        </p:spPr>
        <p:txBody>
          <a:bodyPr wrap="square" lIns="0" tIns="0" rIns="0" bIns="0" rtlCol="0" anchor="ctr"/>
          <a:lstStyle/>
          <a:p>
            <a:pPr algn="ctr" indent="0" marL="0">
              <a:buNone/>
            </a:pPr>
            <a:r>
              <a:rPr lang="en-US" sz="1050" i="1" dirty="0">
                <a:solidFill>
                  <a:srgbClr val="5B6577"/>
                </a:solidFill>
                <a:latin typeface="Calibri" pitchFamily="34" charset="0"/>
                <a:ea typeface="Calibri" pitchFamily="34" charset="-122"/>
                <a:cs typeface="Calibri" pitchFamily="34" charset="-120"/>
              </a:rPr>
              <a:t>Staff role: demo controls visibly disabled with the required role named</a:t>
            </a:r>
            <a:endParaRPr lang="en-US" sz="1050" dirty="0"/>
          </a:p>
        </p:txBody>
      </p:sp>
      <p:sp>
        <p:nvSpPr>
          <p:cNvPr id="7" name="Shape 4"/>
          <p:cNvSpPr/>
          <p:nvPr/>
        </p:nvSpPr>
        <p:spPr>
          <a:xfrm>
            <a:off x="5806440" y="1828800"/>
            <a:ext cx="5897880" cy="1481328"/>
          </a:xfrm>
          <a:prstGeom prst="roundRect">
            <a:avLst>
              <a:gd name="adj" fmla="val 4321"/>
            </a:avLst>
          </a:prstGeom>
          <a:solidFill>
            <a:srgbClr val="F4F6F9"/>
          </a:solidFill>
          <a:ln w="9525">
            <a:solidFill>
              <a:srgbClr val="DDE3EC"/>
            </a:solidFill>
            <a:prstDash val="solid"/>
          </a:ln>
        </p:spPr>
      </p:sp>
      <p:sp>
        <p:nvSpPr>
          <p:cNvPr id="8" name="Text 5"/>
          <p:cNvSpPr txBox="1"/>
          <p:nvPr/>
        </p:nvSpPr>
        <p:spPr>
          <a:xfrm>
            <a:off x="5989320" y="1920240"/>
            <a:ext cx="5532120" cy="365760"/>
          </a:xfrm>
          <a:prstGeom prst="rect">
            <a:avLst/>
          </a:prstGeom>
          <a:noFill/>
          <a:ln/>
        </p:spPr>
        <p:txBody>
          <a:bodyPr wrap="square" lIns="0" tIns="0" rIns="0" bIns="0" rtlCol="0" anchor="ctr"/>
          <a:lstStyle/>
          <a:p>
            <a:pPr indent="0" marL="0">
              <a:buNone/>
            </a:pPr>
            <a:r>
              <a:rPr lang="en-US" sz="1250" b="1" dirty="0">
                <a:solidFill>
                  <a:srgbClr val="0F1B2D"/>
                </a:solidFill>
                <a:latin typeface="Cambria" pitchFamily="34" charset="0"/>
                <a:ea typeface="Cambria" pitchFamily="34" charset="-122"/>
                <a:cs typeface="Cambria" pitchFamily="34" charset="-120"/>
              </a:rPr>
              <a:t>Subtle calibration bias is undetectable from one sensor</a:t>
            </a:r>
            <a:endParaRPr lang="en-US" sz="1250" dirty="0"/>
          </a:p>
        </p:txBody>
      </p:sp>
      <p:sp>
        <p:nvSpPr>
          <p:cNvPr id="9" name="Text 6"/>
          <p:cNvSpPr txBox="1"/>
          <p:nvPr/>
        </p:nvSpPr>
        <p:spPr>
          <a:xfrm>
            <a:off x="5989320" y="2304288"/>
            <a:ext cx="5532120" cy="960120"/>
          </a:xfrm>
          <a:prstGeom prst="rect">
            <a:avLst/>
          </a:prstGeom>
          <a:noFill/>
          <a:ln/>
        </p:spPr>
        <p:txBody>
          <a:bodyPr wrap="square" lIns="0" tIns="0" rIns="0" bIns="0" rtlCol="0" anchor="ctr"/>
          <a:lstStyle/>
          <a:p>
            <a:pPr indent="0" marL="0">
              <a:lnSpc>
                <a:spcPct val="110000"/>
              </a:lnSpc>
              <a:buNone/>
            </a:pPr>
            <a:r>
              <a:rPr lang="en-US" sz="1050" dirty="0">
                <a:solidFill>
                  <a:srgbClr val="5B6577"/>
                </a:solidFill>
                <a:latin typeface="Calibri" pitchFamily="34" charset="0"/>
                <a:ea typeface="Calibri" pitchFamily="34" charset="-122"/>
                <a:cs typeface="Calibri" pitchFamily="34" charset="-120"/>
              </a:rPr>
              <a:t>A constant in-range offset looks identical to a genuinely warmer unit using single-sensor statistics. Needs cross-sensor comparison or reference calibration — a named test pins this down rather than hiding it.</a:t>
            </a:r>
            <a:endParaRPr lang="en-US" sz="1050" dirty="0"/>
          </a:p>
        </p:txBody>
      </p:sp>
      <p:sp>
        <p:nvSpPr>
          <p:cNvPr id="10" name="Shape 7"/>
          <p:cNvSpPr/>
          <p:nvPr/>
        </p:nvSpPr>
        <p:spPr>
          <a:xfrm>
            <a:off x="5806440" y="3456432"/>
            <a:ext cx="5897880" cy="1481328"/>
          </a:xfrm>
          <a:prstGeom prst="roundRect">
            <a:avLst>
              <a:gd name="adj" fmla="val 4321"/>
            </a:avLst>
          </a:prstGeom>
          <a:solidFill>
            <a:srgbClr val="F4F6F9"/>
          </a:solidFill>
          <a:ln w="9525">
            <a:solidFill>
              <a:srgbClr val="DDE3EC"/>
            </a:solidFill>
            <a:prstDash val="solid"/>
          </a:ln>
        </p:spPr>
      </p:sp>
      <p:sp>
        <p:nvSpPr>
          <p:cNvPr id="11" name="Text 8"/>
          <p:cNvSpPr txBox="1"/>
          <p:nvPr/>
        </p:nvSpPr>
        <p:spPr>
          <a:xfrm>
            <a:off x="5989320" y="3547872"/>
            <a:ext cx="5532120" cy="365760"/>
          </a:xfrm>
          <a:prstGeom prst="rect">
            <a:avLst/>
          </a:prstGeom>
          <a:noFill/>
          <a:ln/>
        </p:spPr>
        <p:txBody>
          <a:bodyPr wrap="square" lIns="0" tIns="0" rIns="0" bIns="0" rtlCol="0" anchor="ctr"/>
          <a:lstStyle/>
          <a:p>
            <a:pPr indent="0" marL="0">
              <a:buNone/>
            </a:pPr>
            <a:r>
              <a:rPr lang="en-US" sz="1250" b="1" dirty="0">
                <a:solidFill>
                  <a:srgbClr val="0F1B2D"/>
                </a:solidFill>
                <a:latin typeface="Cambria" pitchFamily="34" charset="0"/>
                <a:ea typeface="Cambria" pitchFamily="34" charset="-122"/>
                <a:cs typeface="Cambria" pitchFamily="34" charset="-120"/>
              </a:rPr>
              <a:t>Device authentication uses one shared API key</a:t>
            </a:r>
            <a:endParaRPr lang="en-US" sz="1250" dirty="0"/>
          </a:p>
        </p:txBody>
      </p:sp>
      <p:sp>
        <p:nvSpPr>
          <p:cNvPr id="12" name="Text 9"/>
          <p:cNvSpPr txBox="1"/>
          <p:nvPr/>
        </p:nvSpPr>
        <p:spPr>
          <a:xfrm>
            <a:off x="5989320" y="3931920"/>
            <a:ext cx="5532120" cy="960120"/>
          </a:xfrm>
          <a:prstGeom prst="rect">
            <a:avLst/>
          </a:prstGeom>
          <a:noFill/>
          <a:ln/>
        </p:spPr>
        <p:txBody>
          <a:bodyPr wrap="square" lIns="0" tIns="0" rIns="0" bIns="0" rtlCol="0" anchor="ctr"/>
          <a:lstStyle/>
          <a:p>
            <a:pPr indent="0" marL="0">
              <a:lnSpc>
                <a:spcPct val="110000"/>
              </a:lnSpc>
              <a:buNone/>
            </a:pPr>
            <a:r>
              <a:rPr lang="en-US" sz="1050" dirty="0">
                <a:solidFill>
                  <a:srgbClr val="5B6577"/>
                </a:solidFill>
                <a:latin typeface="Calibri" pitchFamily="34" charset="0"/>
                <a:ea typeface="Calibri" pitchFamily="34" charset="-122"/>
                <a:cs typeface="Calibri" pitchFamily="34" charset="-120"/>
              </a:rPr>
              <a:t>Fine for a demo; a real deployment would provision one key or certificate per device.</a:t>
            </a:r>
            <a:endParaRPr lang="en-US" sz="1050" dirty="0"/>
          </a:p>
        </p:txBody>
      </p:sp>
      <p:sp>
        <p:nvSpPr>
          <p:cNvPr id="13" name="Shape 10"/>
          <p:cNvSpPr/>
          <p:nvPr/>
        </p:nvSpPr>
        <p:spPr>
          <a:xfrm>
            <a:off x="5806440" y="5084064"/>
            <a:ext cx="5897880" cy="1481328"/>
          </a:xfrm>
          <a:prstGeom prst="roundRect">
            <a:avLst>
              <a:gd name="adj" fmla="val 4321"/>
            </a:avLst>
          </a:prstGeom>
          <a:solidFill>
            <a:srgbClr val="F4F6F9"/>
          </a:solidFill>
          <a:ln w="9525">
            <a:solidFill>
              <a:srgbClr val="DDE3EC"/>
            </a:solidFill>
            <a:prstDash val="solid"/>
          </a:ln>
        </p:spPr>
      </p:sp>
      <p:sp>
        <p:nvSpPr>
          <p:cNvPr id="14" name="Text 11"/>
          <p:cNvSpPr txBox="1"/>
          <p:nvPr/>
        </p:nvSpPr>
        <p:spPr>
          <a:xfrm>
            <a:off x="5989320" y="5175504"/>
            <a:ext cx="5532120" cy="365760"/>
          </a:xfrm>
          <a:prstGeom prst="rect">
            <a:avLst/>
          </a:prstGeom>
          <a:noFill/>
          <a:ln/>
        </p:spPr>
        <p:txBody>
          <a:bodyPr wrap="square" lIns="0" tIns="0" rIns="0" bIns="0" rtlCol="0" anchor="ctr"/>
          <a:lstStyle/>
          <a:p>
            <a:pPr indent="0" marL="0">
              <a:buNone/>
            </a:pPr>
            <a:r>
              <a:rPr lang="en-US" sz="1250" b="1" dirty="0">
                <a:solidFill>
                  <a:srgbClr val="0F1B2D"/>
                </a:solidFill>
                <a:latin typeface="Cambria" pitchFamily="34" charset="0"/>
                <a:ea typeface="Cambria" pitchFamily="34" charset="-122"/>
                <a:cs typeface="Cambria" pitchFamily="34" charset="-120"/>
              </a:rPr>
              <a:t>Operations Manager is a placeholder tier today</a:t>
            </a:r>
            <a:endParaRPr lang="en-US" sz="1250" dirty="0"/>
          </a:p>
        </p:txBody>
      </p:sp>
      <p:sp>
        <p:nvSpPr>
          <p:cNvPr id="15" name="Text 12"/>
          <p:cNvSpPr txBox="1"/>
          <p:nvPr/>
        </p:nvSpPr>
        <p:spPr>
          <a:xfrm>
            <a:off x="5989320" y="5559552"/>
            <a:ext cx="5532120" cy="960120"/>
          </a:xfrm>
          <a:prstGeom prst="rect">
            <a:avLst/>
          </a:prstGeom>
          <a:noFill/>
          <a:ln/>
        </p:spPr>
        <p:txBody>
          <a:bodyPr wrap="square" lIns="0" tIns="0" rIns="0" bIns="0" rtlCol="0" anchor="ctr"/>
          <a:lstStyle/>
          <a:p>
            <a:pPr indent="0" marL="0">
              <a:lnSpc>
                <a:spcPct val="110000"/>
              </a:lnSpc>
              <a:buNone/>
            </a:pPr>
            <a:r>
              <a:rPr lang="en-US" sz="1050" dirty="0">
                <a:solidFill>
                  <a:srgbClr val="5B6577"/>
                </a:solidFill>
                <a:latin typeface="Calibri" pitchFamily="34" charset="0"/>
                <a:ea typeface="Calibri" pitchFamily="34" charset="-122"/>
                <a:cs typeface="Calibri" pitchFamily="34" charset="-120"/>
              </a:rPr>
              <a:t>The role hierarchy is real and enforced, but no feature yet specifically needs a middle tier — threshold configuration is the natural next fit.</a:t>
            </a:r>
            <a:endParaRPr lang="en-US" sz="1050" dirty="0"/>
          </a:p>
        </p:txBody>
      </p:sp>
      <p:sp>
        <p:nvSpPr>
          <p:cNvPr id="16" name="Text 13"/>
          <p:cNvSpPr txBox="1"/>
          <p:nvPr/>
        </p:nvSpPr>
        <p:spPr>
          <a:xfrm>
            <a:off x="502920" y="6510528"/>
            <a:ext cx="11155680" cy="274320"/>
          </a:xfrm>
          <a:prstGeom prst="rect">
            <a:avLst/>
          </a:prstGeom>
          <a:noFill/>
          <a:ln/>
        </p:spPr>
        <p:txBody>
          <a:bodyPr wrap="square" lIns="0" tIns="0" rIns="0" bIns="0" rtlCol="0" anchor="ctr"/>
          <a:lstStyle/>
          <a:p>
            <a:pPr indent="0" marL="0">
              <a:buNone/>
            </a:pPr>
            <a:r>
              <a:rPr lang="en-US" sz="900" i="1" dirty="0">
                <a:solidFill>
                  <a:srgbClr val="5B6577"/>
                </a:solidFill>
                <a:latin typeface="Calibri" pitchFamily="34" charset="0"/>
                <a:ea typeface="Calibri" pitchFamily="34" charset="-122"/>
                <a:cs typeface="Calibri" pitchFamily="34" charset="-120"/>
              </a:rPr>
              <a:t>Naming a limitation before being asked is stronger evidence of understanding than claiming the system is complete.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8229600" cy="274320"/>
          </a:xfrm>
          <a:prstGeom prst="rect">
            <a:avLst/>
          </a:prstGeom>
          <a:noFill/>
          <a:ln/>
        </p:spPr>
        <p:txBody>
          <a:bodyPr wrap="square" rtlCol="0" anchor="ctr"/>
          <a:lstStyle/>
          <a:p>
            <a:pPr indent="0" marL="0">
              <a:buNone/>
            </a:pPr>
            <a:r>
              <a:rPr lang="en-US" sz="1200" b="1" spc="200" kern="0" dirty="0">
                <a:solidFill>
                  <a:srgbClr val="0B63B6"/>
                </a:solidFill>
                <a:latin typeface="Calibri" pitchFamily="34" charset="0"/>
                <a:ea typeface="Calibri" pitchFamily="34" charset="-122"/>
                <a:cs typeface="Calibri" pitchFamily="34" charset="-120"/>
              </a:rPr>
              <a:t>REMAINING WORK</a:t>
            </a:r>
            <a:endParaRPr lang="en-US" sz="1200" dirty="0"/>
          </a:p>
        </p:txBody>
      </p:sp>
      <p:sp>
        <p:nvSpPr>
          <p:cNvPr id="3" name="Text 1"/>
          <p:cNvSpPr txBox="1"/>
          <p:nvPr/>
        </p:nvSpPr>
        <p:spPr>
          <a:xfrm>
            <a:off x="502920" y="548640"/>
            <a:ext cx="11155680" cy="640080"/>
          </a:xfrm>
          <a:prstGeom prst="rect">
            <a:avLst/>
          </a:prstGeom>
          <a:noFill/>
          <a:ln/>
        </p:spPr>
        <p:txBody>
          <a:bodyPr wrap="square" lIns="0" tIns="0" rIns="0" bIns="0" rtlCol="0" anchor="ctr"/>
          <a:lstStyle/>
          <a:p>
            <a:pPr indent="0" marL="0">
              <a:buNone/>
            </a:pPr>
            <a:r>
              <a:rPr lang="en-US" sz="3000" b="1" dirty="0">
                <a:solidFill>
                  <a:srgbClr val="182033"/>
                </a:solidFill>
                <a:latin typeface="Cambria" pitchFamily="34" charset="0"/>
                <a:ea typeface="Cambria" pitchFamily="34" charset="-122"/>
                <a:cs typeface="Cambria" pitchFamily="34" charset="-120"/>
              </a:rPr>
              <a:t>Next Steps to Final Submission</a:t>
            </a:r>
            <a:endParaRPr lang="en-US" sz="3000" dirty="0"/>
          </a:p>
        </p:txBody>
      </p:sp>
      <p:sp>
        <p:nvSpPr>
          <p:cNvPr id="4" name="Shape 2"/>
          <p:cNvSpPr/>
          <p:nvPr/>
        </p:nvSpPr>
        <p:spPr>
          <a:xfrm>
            <a:off x="502920" y="2011680"/>
            <a:ext cx="2594610" cy="2377440"/>
          </a:xfrm>
          <a:prstGeom prst="roundRect">
            <a:avLst>
              <a:gd name="adj" fmla="val 3077"/>
            </a:avLst>
          </a:prstGeom>
          <a:solidFill>
            <a:srgbClr val="F4F6F9"/>
          </a:solidFill>
          <a:ln w="9525">
            <a:solidFill>
              <a:srgbClr val="DDE3EC"/>
            </a:solidFill>
            <a:prstDash val="solid"/>
          </a:ln>
        </p:spPr>
      </p:sp>
      <p:sp>
        <p:nvSpPr>
          <p:cNvPr id="5" name="Shape 3"/>
          <p:cNvSpPr/>
          <p:nvPr/>
        </p:nvSpPr>
        <p:spPr>
          <a:xfrm>
            <a:off x="731520" y="2240280"/>
            <a:ext cx="457200" cy="457200"/>
          </a:xfrm>
          <a:prstGeom prst="ellipse">
            <a:avLst/>
          </a:prstGeom>
          <a:solidFill>
            <a:srgbClr val="0B63B6"/>
          </a:solidFill>
          <a:ln/>
        </p:spPr>
      </p:sp>
      <p:sp>
        <p:nvSpPr>
          <p:cNvPr id="6" name="Text 4"/>
          <p:cNvSpPr txBox="1"/>
          <p:nvPr/>
        </p:nvSpPr>
        <p:spPr>
          <a:xfrm>
            <a:off x="731520" y="2240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731520" y="2834640"/>
            <a:ext cx="2137410" cy="685800"/>
          </a:xfrm>
          <a:prstGeom prst="rect">
            <a:avLst/>
          </a:prstGeom>
          <a:noFill/>
          <a:ln/>
        </p:spPr>
        <p:txBody>
          <a:bodyPr wrap="square" lIns="0" tIns="0" rIns="0" bIns="0" rtlCol="0" anchor="ctr"/>
          <a:lstStyle/>
          <a:p>
            <a:pPr indent="0" marL="0">
              <a:buNone/>
            </a:pPr>
            <a:r>
              <a:rPr lang="en-US" sz="1300" b="1" dirty="0">
                <a:solidFill>
                  <a:srgbClr val="182033"/>
                </a:solidFill>
                <a:latin typeface="Cambria" pitchFamily="34" charset="0"/>
                <a:ea typeface="Cambria" pitchFamily="34" charset="-122"/>
                <a:cs typeface="Cambria" pitchFamily="34" charset="-120"/>
              </a:rPr>
              <a:t>Cross-sensor calibration checks</a:t>
            </a:r>
            <a:endParaRPr lang="en-US" sz="1300" dirty="0"/>
          </a:p>
        </p:txBody>
      </p:sp>
      <p:sp>
        <p:nvSpPr>
          <p:cNvPr id="8" name="Text 6"/>
          <p:cNvSpPr txBox="1"/>
          <p:nvPr/>
        </p:nvSpPr>
        <p:spPr>
          <a:xfrm>
            <a:off x="731520" y="3520440"/>
            <a:ext cx="2137410" cy="777240"/>
          </a:xfrm>
          <a:prstGeom prst="rect">
            <a:avLst/>
          </a:prstGeom>
          <a:noFill/>
          <a:ln/>
        </p:spPr>
        <p:txBody>
          <a:bodyPr wrap="square" lIns="0" tIns="0" rIns="0" bIns="0" rtlCol="0" anchor="ctr"/>
          <a:lstStyle/>
          <a:p>
            <a:pPr indent="0" marL="0">
              <a:lnSpc>
                <a:spcPct val="115000"/>
              </a:lnSpc>
              <a:buNone/>
            </a:pPr>
            <a:r>
              <a:rPr lang="en-US" sz="1100" dirty="0">
                <a:solidFill>
                  <a:srgbClr val="5B6577"/>
                </a:solidFill>
                <a:latin typeface="Calibri" pitchFamily="34" charset="0"/>
                <a:ea typeface="Calibri" pitchFamily="34" charset="-122"/>
                <a:cs typeface="Calibri" pitchFamily="34" charset="-120"/>
              </a:rPr>
              <a:t>Close the one named blind spot using multi-sensor comparison</a:t>
            </a:r>
            <a:endParaRPr lang="en-US" sz="1100" dirty="0"/>
          </a:p>
        </p:txBody>
      </p:sp>
      <p:sp>
        <p:nvSpPr>
          <p:cNvPr id="9" name="Shape 7"/>
          <p:cNvSpPr/>
          <p:nvPr/>
        </p:nvSpPr>
        <p:spPr>
          <a:xfrm>
            <a:off x="3371850" y="2011680"/>
            <a:ext cx="2594610" cy="2377440"/>
          </a:xfrm>
          <a:prstGeom prst="roundRect">
            <a:avLst>
              <a:gd name="adj" fmla="val 3077"/>
            </a:avLst>
          </a:prstGeom>
          <a:solidFill>
            <a:srgbClr val="E6F0FA"/>
          </a:solidFill>
          <a:ln w="9525">
            <a:solidFill>
              <a:srgbClr val="DDE3EC"/>
            </a:solidFill>
            <a:prstDash val="solid"/>
          </a:ln>
        </p:spPr>
      </p:sp>
      <p:sp>
        <p:nvSpPr>
          <p:cNvPr id="10" name="Shape 8"/>
          <p:cNvSpPr/>
          <p:nvPr/>
        </p:nvSpPr>
        <p:spPr>
          <a:xfrm>
            <a:off x="3600450" y="2240280"/>
            <a:ext cx="457200" cy="457200"/>
          </a:xfrm>
          <a:prstGeom prst="ellipse">
            <a:avLst/>
          </a:prstGeom>
          <a:solidFill>
            <a:srgbClr val="0B63B6"/>
          </a:solidFill>
          <a:ln/>
        </p:spPr>
      </p:sp>
      <p:sp>
        <p:nvSpPr>
          <p:cNvPr id="11" name="Text 9"/>
          <p:cNvSpPr txBox="1"/>
          <p:nvPr/>
        </p:nvSpPr>
        <p:spPr>
          <a:xfrm>
            <a:off x="3600450" y="2240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600450" y="2834640"/>
            <a:ext cx="2137410" cy="685800"/>
          </a:xfrm>
          <a:prstGeom prst="rect">
            <a:avLst/>
          </a:prstGeom>
          <a:noFill/>
          <a:ln/>
        </p:spPr>
        <p:txBody>
          <a:bodyPr wrap="square" lIns="0" tIns="0" rIns="0" bIns="0" rtlCol="0" anchor="ctr"/>
          <a:lstStyle/>
          <a:p>
            <a:pPr indent="0" marL="0">
              <a:buNone/>
            </a:pPr>
            <a:r>
              <a:rPr lang="en-US" sz="1300" b="1" dirty="0">
                <a:solidFill>
                  <a:srgbClr val="182033"/>
                </a:solidFill>
                <a:latin typeface="Cambria" pitchFamily="34" charset="0"/>
                <a:ea typeface="Cambria" pitchFamily="34" charset="-122"/>
                <a:cs typeface="Cambria" pitchFamily="34" charset="-120"/>
              </a:rPr>
              <a:t>Alert notifications</a:t>
            </a:r>
            <a:endParaRPr lang="en-US" sz="1300" dirty="0"/>
          </a:p>
        </p:txBody>
      </p:sp>
      <p:sp>
        <p:nvSpPr>
          <p:cNvPr id="13" name="Text 11"/>
          <p:cNvSpPr txBox="1"/>
          <p:nvPr/>
        </p:nvSpPr>
        <p:spPr>
          <a:xfrm>
            <a:off x="3600450" y="3520440"/>
            <a:ext cx="2137410" cy="777240"/>
          </a:xfrm>
          <a:prstGeom prst="rect">
            <a:avLst/>
          </a:prstGeom>
          <a:noFill/>
          <a:ln/>
        </p:spPr>
        <p:txBody>
          <a:bodyPr wrap="square" lIns="0" tIns="0" rIns="0" bIns="0" rtlCol="0" anchor="ctr"/>
          <a:lstStyle/>
          <a:p>
            <a:pPr indent="0" marL="0">
              <a:lnSpc>
                <a:spcPct val="115000"/>
              </a:lnSpc>
              <a:buNone/>
            </a:pPr>
            <a:r>
              <a:rPr lang="en-US" sz="1100" dirty="0">
                <a:solidFill>
                  <a:srgbClr val="5B6577"/>
                </a:solidFill>
                <a:latin typeface="Calibri" pitchFamily="34" charset="0"/>
                <a:ea typeface="Calibri" pitchFamily="34" charset="-122"/>
                <a:cs typeface="Calibri" pitchFamily="34" charset="-120"/>
              </a:rPr>
              <a:t>Push alerts out (email/SMS) instead of requiring a dashboard visit</a:t>
            </a:r>
            <a:endParaRPr lang="en-US" sz="1100" dirty="0"/>
          </a:p>
        </p:txBody>
      </p:sp>
      <p:sp>
        <p:nvSpPr>
          <p:cNvPr id="14" name="Shape 12"/>
          <p:cNvSpPr/>
          <p:nvPr/>
        </p:nvSpPr>
        <p:spPr>
          <a:xfrm>
            <a:off x="6240780" y="2011680"/>
            <a:ext cx="2594610" cy="2377440"/>
          </a:xfrm>
          <a:prstGeom prst="roundRect">
            <a:avLst>
              <a:gd name="adj" fmla="val 3077"/>
            </a:avLst>
          </a:prstGeom>
          <a:solidFill>
            <a:srgbClr val="F4F6F9"/>
          </a:solidFill>
          <a:ln w="9525">
            <a:solidFill>
              <a:srgbClr val="DDE3EC"/>
            </a:solidFill>
            <a:prstDash val="solid"/>
          </a:ln>
        </p:spPr>
      </p:sp>
      <p:sp>
        <p:nvSpPr>
          <p:cNvPr id="15" name="Shape 13"/>
          <p:cNvSpPr/>
          <p:nvPr/>
        </p:nvSpPr>
        <p:spPr>
          <a:xfrm>
            <a:off x="6469380" y="2240280"/>
            <a:ext cx="457200" cy="457200"/>
          </a:xfrm>
          <a:prstGeom prst="ellipse">
            <a:avLst/>
          </a:prstGeom>
          <a:solidFill>
            <a:srgbClr val="0B63B6"/>
          </a:solidFill>
          <a:ln/>
        </p:spPr>
      </p:sp>
      <p:sp>
        <p:nvSpPr>
          <p:cNvPr id="16" name="Text 14"/>
          <p:cNvSpPr txBox="1"/>
          <p:nvPr/>
        </p:nvSpPr>
        <p:spPr>
          <a:xfrm>
            <a:off x="6469380" y="2240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469380" y="2834640"/>
            <a:ext cx="2137410" cy="685800"/>
          </a:xfrm>
          <a:prstGeom prst="rect">
            <a:avLst/>
          </a:prstGeom>
          <a:noFill/>
          <a:ln/>
        </p:spPr>
        <p:txBody>
          <a:bodyPr wrap="square" lIns="0" tIns="0" rIns="0" bIns="0" rtlCol="0" anchor="ctr"/>
          <a:lstStyle/>
          <a:p>
            <a:pPr indent="0" marL="0">
              <a:buNone/>
            </a:pPr>
            <a:r>
              <a:rPr lang="en-US" sz="1300" b="1" dirty="0">
                <a:solidFill>
                  <a:srgbClr val="182033"/>
                </a:solidFill>
                <a:latin typeface="Cambria" pitchFamily="34" charset="0"/>
                <a:ea typeface="Cambria" pitchFamily="34" charset="-122"/>
                <a:cs typeface="Cambria" pitchFamily="34" charset="-120"/>
              </a:rPr>
              <a:t>Audit logging</a:t>
            </a:r>
            <a:endParaRPr lang="en-US" sz="1300" dirty="0"/>
          </a:p>
        </p:txBody>
      </p:sp>
      <p:sp>
        <p:nvSpPr>
          <p:cNvPr id="18" name="Text 16"/>
          <p:cNvSpPr txBox="1"/>
          <p:nvPr/>
        </p:nvSpPr>
        <p:spPr>
          <a:xfrm>
            <a:off x="6469380" y="3520440"/>
            <a:ext cx="2137410" cy="777240"/>
          </a:xfrm>
          <a:prstGeom prst="rect">
            <a:avLst/>
          </a:prstGeom>
          <a:noFill/>
          <a:ln/>
        </p:spPr>
        <p:txBody>
          <a:bodyPr wrap="square" lIns="0" tIns="0" rIns="0" bIns="0" rtlCol="0" anchor="ctr"/>
          <a:lstStyle/>
          <a:p>
            <a:pPr indent="0" marL="0">
              <a:lnSpc>
                <a:spcPct val="115000"/>
              </a:lnSpc>
              <a:buNone/>
            </a:pPr>
            <a:r>
              <a:rPr lang="en-US" sz="1100" dirty="0">
                <a:solidFill>
                  <a:srgbClr val="5B6577"/>
                </a:solidFill>
                <a:latin typeface="Calibri" pitchFamily="34" charset="0"/>
                <a:ea typeface="Calibri" pitchFamily="34" charset="-122"/>
                <a:cs typeface="Calibri" pitchFamily="34" charset="-120"/>
              </a:rPr>
              <a:t>Track who ran the demo, changed a role, or acknowledged an alert</a:t>
            </a:r>
            <a:endParaRPr lang="en-US" sz="1100" dirty="0"/>
          </a:p>
        </p:txBody>
      </p:sp>
      <p:sp>
        <p:nvSpPr>
          <p:cNvPr id="19" name="Shape 17"/>
          <p:cNvSpPr/>
          <p:nvPr/>
        </p:nvSpPr>
        <p:spPr>
          <a:xfrm>
            <a:off x="9109710" y="2011680"/>
            <a:ext cx="2594610" cy="2377440"/>
          </a:xfrm>
          <a:prstGeom prst="roundRect">
            <a:avLst>
              <a:gd name="adj" fmla="val 3077"/>
            </a:avLst>
          </a:prstGeom>
          <a:solidFill>
            <a:srgbClr val="E6F0FA"/>
          </a:solidFill>
          <a:ln w="9525">
            <a:solidFill>
              <a:srgbClr val="DDE3EC"/>
            </a:solidFill>
            <a:prstDash val="solid"/>
          </a:ln>
        </p:spPr>
      </p:sp>
      <p:sp>
        <p:nvSpPr>
          <p:cNvPr id="20" name="Shape 18"/>
          <p:cNvSpPr/>
          <p:nvPr/>
        </p:nvSpPr>
        <p:spPr>
          <a:xfrm>
            <a:off x="9338310" y="2240280"/>
            <a:ext cx="457200" cy="457200"/>
          </a:xfrm>
          <a:prstGeom prst="ellipse">
            <a:avLst/>
          </a:prstGeom>
          <a:solidFill>
            <a:srgbClr val="0B63B6"/>
          </a:solidFill>
          <a:ln/>
        </p:spPr>
      </p:sp>
      <p:sp>
        <p:nvSpPr>
          <p:cNvPr id="21" name="Text 19"/>
          <p:cNvSpPr txBox="1"/>
          <p:nvPr/>
        </p:nvSpPr>
        <p:spPr>
          <a:xfrm>
            <a:off x="9338310" y="2240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338310" y="2834640"/>
            <a:ext cx="2137410" cy="685800"/>
          </a:xfrm>
          <a:prstGeom prst="rect">
            <a:avLst/>
          </a:prstGeom>
          <a:noFill/>
          <a:ln/>
        </p:spPr>
        <p:txBody>
          <a:bodyPr wrap="square" lIns="0" tIns="0" rIns="0" bIns="0" rtlCol="0" anchor="ctr"/>
          <a:lstStyle/>
          <a:p>
            <a:pPr indent="0" marL="0">
              <a:buNone/>
            </a:pPr>
            <a:r>
              <a:rPr lang="en-US" sz="1300" b="1" dirty="0">
                <a:solidFill>
                  <a:srgbClr val="182033"/>
                </a:solidFill>
                <a:latin typeface="Cambria" pitchFamily="34" charset="0"/>
                <a:ea typeface="Cambria" pitchFamily="34" charset="-122"/>
                <a:cs typeface="Cambria" pitchFamily="34" charset="-120"/>
              </a:rPr>
              <a:t>Validation on real industry data</a:t>
            </a:r>
            <a:endParaRPr lang="en-US" sz="1300" dirty="0"/>
          </a:p>
        </p:txBody>
      </p:sp>
      <p:sp>
        <p:nvSpPr>
          <p:cNvPr id="23" name="Text 21"/>
          <p:cNvSpPr txBox="1"/>
          <p:nvPr/>
        </p:nvSpPr>
        <p:spPr>
          <a:xfrm>
            <a:off x="9338310" y="3520440"/>
            <a:ext cx="2137410" cy="777240"/>
          </a:xfrm>
          <a:prstGeom prst="rect">
            <a:avLst/>
          </a:prstGeom>
          <a:noFill/>
          <a:ln/>
        </p:spPr>
        <p:txBody>
          <a:bodyPr wrap="square" lIns="0" tIns="0" rIns="0" bIns="0" rtlCol="0" anchor="ctr"/>
          <a:lstStyle/>
          <a:p>
            <a:pPr indent="0" marL="0">
              <a:lnSpc>
                <a:spcPct val="115000"/>
              </a:lnSpc>
              <a:buNone/>
            </a:pPr>
            <a:r>
              <a:rPr lang="en-US" sz="1100" dirty="0">
                <a:solidFill>
                  <a:srgbClr val="5B6577"/>
                </a:solidFill>
                <a:latin typeface="Calibri" pitchFamily="34" charset="0"/>
                <a:ea typeface="Calibri" pitchFamily="34" charset="-122"/>
                <a:cs typeface="Calibri" pitchFamily="34" charset="-120"/>
              </a:rPr>
              <a:t>Re-run the same pipeline against real John Keells-style cold-chain data once available</a:t>
            </a:r>
            <a:endParaRPr lang="en-US" sz="1100" dirty="0"/>
          </a:p>
        </p:txBody>
      </p:sp>
      <p:sp>
        <p:nvSpPr>
          <p:cNvPr id="24" name="Shape 22"/>
          <p:cNvSpPr/>
          <p:nvPr/>
        </p:nvSpPr>
        <p:spPr>
          <a:xfrm>
            <a:off x="502920" y="4709160"/>
            <a:ext cx="11201400" cy="1143000"/>
          </a:xfrm>
          <a:prstGeom prst="roundRect">
            <a:avLst>
              <a:gd name="adj" fmla="val 5600"/>
            </a:avLst>
          </a:prstGeom>
          <a:solidFill>
            <a:srgbClr val="0F1B2D"/>
          </a:solidFill>
          <a:ln/>
        </p:spPr>
      </p:sp>
      <p:sp>
        <p:nvSpPr>
          <p:cNvPr id="25" name="Text 23"/>
          <p:cNvSpPr txBox="1"/>
          <p:nvPr/>
        </p:nvSpPr>
        <p:spPr>
          <a:xfrm>
            <a:off x="822960" y="4709160"/>
            <a:ext cx="10607040" cy="114300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The data-quality layer, analytics, and enterprise access control are built and demonstrated today — what remains is depth, not direction.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640080"/>
            <a:ext cx="2286000" cy="2286000"/>
          </a:xfrm>
          <a:prstGeom prst="rect">
            <a:avLst/>
          </a:prstGeom>
          <a:noFill/>
          <a:ln/>
        </p:spPr>
        <p:txBody>
          <a:bodyPr wrap="square" lIns="0" tIns="0" rIns="0" bIns="0" rtlCol="0" anchor="ctr"/>
          <a:lstStyle/>
          <a:p>
            <a:pPr algn="ctr" indent="0" marL="0">
              <a:buNone/>
            </a:pPr>
            <a:r>
              <a:rPr lang="en-US" sz="15000" dirty="0">
                <a:solidFill>
                  <a:srgbClr val="18273D"/>
                </a:solidFill>
                <a:latin typeface="Arial" pitchFamily="34" charset="0"/>
                <a:ea typeface="Arial" pitchFamily="34" charset="-122"/>
                <a:cs typeface="Arial" pitchFamily="34" charset="-120"/>
              </a:rPr>
              <a:t>❄</a:t>
            </a:r>
            <a:endParaRPr lang="en-US" sz="15000" dirty="0"/>
          </a:p>
        </p:txBody>
      </p:sp>
      <p:sp>
        <p:nvSpPr>
          <p:cNvPr id="3" name="Text 1"/>
          <p:cNvSpPr txBox="1"/>
          <p:nvPr/>
        </p:nvSpPr>
        <p:spPr>
          <a:xfrm>
            <a:off x="10241280" y="4754880"/>
            <a:ext cx="2286000" cy="2286000"/>
          </a:xfrm>
          <a:prstGeom prst="rect">
            <a:avLst/>
          </a:prstGeom>
          <a:noFill/>
          <a:ln/>
        </p:spPr>
        <p:txBody>
          <a:bodyPr wrap="square" lIns="0" tIns="0" rIns="0" bIns="0" rtlCol="0" anchor="ctr"/>
          <a:lstStyle/>
          <a:p>
            <a:pPr algn="ctr" indent="0" marL="0">
              <a:buNone/>
            </a:pPr>
            <a:r>
              <a:rPr lang="en-US" sz="15000" dirty="0">
                <a:solidFill>
                  <a:srgbClr val="18273D"/>
                </a:solidFill>
                <a:latin typeface="Arial" pitchFamily="34" charset="0"/>
                <a:ea typeface="Arial" pitchFamily="34" charset="-122"/>
                <a:cs typeface="Arial" pitchFamily="34" charset="-120"/>
              </a:rPr>
              <a:t>❄</a:t>
            </a:r>
            <a:endParaRPr lang="en-US" sz="15000" dirty="0"/>
          </a:p>
        </p:txBody>
      </p:sp>
      <p:sp>
        <p:nvSpPr>
          <p:cNvPr id="4" name="Text 2"/>
          <p:cNvSpPr txBox="1"/>
          <p:nvPr/>
        </p:nvSpPr>
        <p:spPr>
          <a:xfrm>
            <a:off x="0" y="2651760"/>
            <a:ext cx="12191695" cy="109728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Text 3"/>
          <p:cNvSpPr txBox="1"/>
          <p:nvPr/>
        </p:nvSpPr>
        <p:spPr>
          <a:xfrm>
            <a:off x="0" y="3611880"/>
            <a:ext cx="12191695" cy="457200"/>
          </a:xfrm>
          <a:prstGeom prst="rect">
            <a:avLst/>
          </a:prstGeom>
          <a:noFill/>
          <a:ln/>
        </p:spPr>
        <p:txBody>
          <a:bodyPr wrap="square" lIns="0" tIns="0" rIns="0" bIns="0"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ColdSense-DQ  —  Questions &amp; Live Demo</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2026-10-09T08:02:23Z</dcterms:created>
  <dcterms:modified xsi:type="dcterms:W3CDTF">2026-10-09T08:02:23Z</dcterms:modified>
</cp:coreProperties>
</file>