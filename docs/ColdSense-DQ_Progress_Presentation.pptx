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why this presentation is structured the way it is: the proposal review asked for real evidence, and that comes first, before any progress or demo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feedback aloud. Then say: two kinds of evidence follow — what the industry already documents, and what I personally found by running my own system on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fast here — 90 seconds. The point is only to establish the problem is industry-documented, not invented. Don't over-read the stats, just land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 slide. Say explicitly: 'that's the industry — here's what I found in my own analysis.' The debugging story at the bottom is a strong credibility signal — don't rush past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as a three-way triangulation: industry said it, research confirms it's common, my code catches it. That's the strongest form of evidence available at this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proposal's own diagram realized. Emphasize the ingestion API specifically since that's the box the review implicitly questioned.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live feed is running, mention the readings are arriving through the real ingestion API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the real data is mostly clean — that's expected and correct, not a weak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in the deck. It proves understanding of WHY data quality is hard, not just that anomalies can be flagged. Let the contrast speak — don't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Walk-in Cooler Unit 3 is the only unit that ever breaches its limit — chiefly days 4, 7 and 8. State plainly that the impact model is a documented heuristic, not a calibrated spoilage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allows, show the staff-restricted view here live: the same fault-injection buttons, disabled, with the role requirement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this before questions. It reads as far more competent than being caught out by a reviewer who finds the gap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progress section on a confident, forward-looking note before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open the live dashboard again for any specific question — having it already running removes friction.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457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dirty="0">
                <a:solidFill>
                  <a:srgbClr val="182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14000" dirty="0"/>
          </a:p>
        </p:txBody>
      </p:sp>
      <p:sp>
        <p:nvSpPr>
          <p:cNvPr id="4" name="Text 2"/>
          <p:cNvSpPr txBox="1"/>
          <p:nvPr/>
        </p:nvSpPr>
        <p:spPr>
          <a:xfrm>
            <a:off x="-548640" y="4206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dirty="0">
                <a:solidFill>
                  <a:srgbClr val="182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1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❄  ColdSense-DQ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Data-Quality-Driven Cold-Chain Intelligence Platform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5577840" cy="502920"/>
          </a:xfrm>
          <a:prstGeom prst="roundRect">
            <a:avLst>
              <a:gd name="adj" fmla="val 18182"/>
            </a:avLst>
          </a:prstGeom>
          <a:solidFill>
            <a:srgbClr val="0B63B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4290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PRESENTATION  •  RESPONDING TO PROPOSAL REVIEW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CO3554 – Data Management Project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22/ENG/162 – W.P.A. Amarasekara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REVIEW — FEEDBACK RECEIVED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the Review Panel's Note Directly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201400" cy="1417320"/>
          </a:xfrm>
          <a:prstGeom prst="roundRect">
            <a:avLst>
              <a:gd name="adj" fmla="val 4516"/>
            </a:avLst>
          </a:prstGeom>
          <a:solidFill>
            <a:srgbClr val="FDE8E6"/>
          </a:solidFill>
          <a:ln w="12700">
            <a:solidFill>
              <a:srgbClr val="F3C7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3A3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2024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revisions required — Come up with real evidence to support poor IoT sensor qualities and that impacting the business. Then this whole project might make sense.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answers that note in two parts, before anything else: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402336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0B63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279392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Evidence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937760"/>
            <a:ext cx="4869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published, cited industry and academic data proving cold-chain temperature excursions and IoT sensor-quality failures are widespread, measured problems — not an assumption.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86500" y="402336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60820" y="4297680"/>
            <a:ext cx="502920" cy="502920"/>
          </a:xfrm>
          <a:prstGeom prst="ellipse">
            <a:avLst/>
          </a:prstGeom>
          <a:solidFill>
            <a:srgbClr val="1474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608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246620" y="4279392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Evidence — My Own System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60820" y="4937760"/>
            <a:ext cx="48691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numbers produced by running my own data-quality engine against 405,184 real IoT sensor readings: real glitches found, real excursions detected, real revenue exposure calculated.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PART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Real — Industry &amp; Academic Evidence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published findings on cold-chain failures and IoT sensor data quality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59461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82033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993392"/>
            <a:ext cx="232029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70–85%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monitored cold-chain products in France exceeded safe temperatures at some point in transit/storage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71850" y="1828800"/>
            <a:ext cx="259461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8203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09010" y="1993392"/>
            <a:ext cx="232029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6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16.7–29.2%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09010" y="32918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rates documented in real-world environmental IoT sensor deployments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0780" y="1828800"/>
            <a:ext cx="259461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820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77940" y="1993392"/>
            <a:ext cx="232029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9A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25–50%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77940" y="32918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spoilage rate in perishable supply chains (FAO)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09710" y="1828800"/>
            <a:ext cx="259461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8203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46870" y="1993392"/>
            <a:ext cx="232029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7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246870" y="3291840"/>
            <a:ext cx="2320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monitored vaccine refrigerators in one study stayed within the safe range for their entire monitored period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11201400" cy="1783080"/>
          </a:xfrm>
          <a:prstGeom prst="roundRect">
            <a:avLst>
              <a:gd name="adj" fmla="val 3590"/>
            </a:avLst>
          </a:prstGeom>
          <a:solidFill>
            <a:srgbClr val="E6F0FA"/>
          </a:solidFill>
          <a:ln w="9525">
            <a:solidFill>
              <a:srgbClr val="CFE1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 Lanka context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53712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Lanka's cold-chain sector is documented as underdeveloped, with high electricity cost and infrastructure gaps named as the main limiting factors. Nationwide power outages are a recurring, dated, real event — exactly the “power cuts” failure mode named in the proposal, not a hypothetical.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Time-Temperature Management Along the Food Cold Chain (agrireseau.net) • Sensor Data Quality: A Systematic Review, Springer • FAO • Keep Cool vaccine cold-chain study, PMC • Sri Lanka NCAP Cooling Strategy • 2020 Sri Lankan Blackouts, Wikipedia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32720" y="-4572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dirty="0">
                <a:solidFill>
                  <a:srgbClr val="182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1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PART 2 OF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Here's What I Found Myself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simulated. Not assumed. Measured by my own data-quality engine running on real IoT telemetry.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594610" cy="2103120"/>
          </a:xfrm>
          <a:prstGeom prst="roundRect">
            <a:avLst>
              <a:gd name="adj" fmla="val 3478"/>
            </a:avLst>
          </a:prstGeom>
          <a:solidFill>
            <a:srgbClr val="18273D"/>
          </a:solidFill>
          <a:ln w="9525">
            <a:solidFill>
              <a:srgbClr val="2435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2148840"/>
            <a:ext cx="2265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C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405,184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926080"/>
            <a:ext cx="22654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IoT sensor readings analyzed (3 devices, 8 days)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1850" y="1965960"/>
            <a:ext cx="2594610" cy="2103120"/>
          </a:xfrm>
          <a:prstGeom prst="roundRect">
            <a:avLst>
              <a:gd name="adj" fmla="val 3478"/>
            </a:avLst>
          </a:prstGeom>
          <a:solidFill>
            <a:srgbClr val="18273D"/>
          </a:solidFill>
          <a:ln w="9525">
            <a:solidFill>
              <a:srgbClr val="2435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6442" y="2148840"/>
            <a:ext cx="2265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C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536442" y="2926080"/>
            <a:ext cx="22654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flagged unreliable — 2,038 gaps, 388 outliers, 76 noise events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0780" y="1965960"/>
            <a:ext cx="2594610" cy="2103120"/>
          </a:xfrm>
          <a:prstGeom prst="roundRect">
            <a:avLst>
              <a:gd name="adj" fmla="val 3478"/>
            </a:avLst>
          </a:prstGeom>
          <a:solidFill>
            <a:srgbClr val="18273D"/>
          </a:solidFill>
          <a:ln w="9525">
            <a:solidFill>
              <a:srgbClr val="2435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5372" y="2148840"/>
            <a:ext cx="2265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C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05372" y="2926080"/>
            <a:ext cx="22654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safe-limit temperature excursions detected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09710" y="1965960"/>
            <a:ext cx="2594610" cy="2103120"/>
          </a:xfrm>
          <a:prstGeom prst="roundRect">
            <a:avLst>
              <a:gd name="adj" fmla="val 3478"/>
            </a:avLst>
          </a:prstGeom>
          <a:solidFill>
            <a:srgbClr val="18273D"/>
          </a:solidFill>
          <a:ln w="9525">
            <a:solidFill>
              <a:srgbClr val="2435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74302" y="2148840"/>
            <a:ext cx="2265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C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$1,024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274302" y="2926080"/>
            <a:ext cx="226542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identified, out of $7,571 in exposed sales (13.5%)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343400"/>
            <a:ext cx="11201400" cy="1600200"/>
          </a:xfrm>
          <a:prstGeom prst="roundRect">
            <a:avLst>
              <a:gd name="adj" fmla="val 4000"/>
            </a:avLst>
          </a:prstGeom>
          <a:solidFill>
            <a:srgbClr val="18273D"/>
          </a:solidFill>
          <a:ln w="9525">
            <a:solidFill>
              <a:srgbClr val="2435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C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debugging story, not a tuning story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864608"/>
            <a:ext cx="10652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outlier check initially false-flagged ~10% of real readings as defective, because the sensor reports in coarse 0.1°C steps. I found this by validating against real data — not by assuming my code was right — and fixed it down to under 0.3%. That habit of verifying against reality, not just building a plausible-looking model, is the actual point of this project.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John Keells Told Us — Confirmed, Not Just Repeated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52044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John Keells said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023360" y="1920240"/>
            <a:ext cx="352044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60520" y="1920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literature confirms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43800" y="1920240"/>
            <a:ext cx="416052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0" y="19202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my system actually catches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35204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4231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“Poor sensor calibration causes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readings”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23360" y="2423160"/>
            <a:ext cx="35204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60520" y="242316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Outliers/bias/drift are the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most-studied IoT fault categories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43800" y="242316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242316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check — found real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glitch readings in the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474720"/>
            <a:ext cx="3520440" cy="105156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4747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“Network errors lead to missing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delayed data”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3474720"/>
            <a:ext cx="3520440" cy="105156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60520" y="34747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16.7–29.2% missing-value rates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deployments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474720"/>
            <a:ext cx="4160520" cy="105156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347472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Missing-data check — 2,038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gap events found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35204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5262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“Difficult to separate sensor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from real temperature issues”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23360" y="4526280"/>
            <a:ext cx="35204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60520" y="45262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as an open problem in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data-quality research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43800" y="4526280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0" y="452628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check — plus one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named blind spot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modes named in an unstructured industry conversation — all three independently confirmed in literature, and all three caught by name in my own system.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SINCE PROPOSAL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 Diagram, Built — Box by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5875">
            <a:solidFill>
              <a:srgbClr val="0B63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" y="214884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263347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3317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04872" y="20574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5875">
            <a:solidFill>
              <a:srgbClr val="1474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78024" y="214884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78024" y="263347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checks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23317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06824" y="20574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5875">
            <a:solidFill>
              <a:srgbClr val="0B63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9976" y="214884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263347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98464" y="23317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08776" y="20574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5875">
            <a:solidFill>
              <a:srgbClr val="1474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1928" y="214884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Forecasting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263347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ARIMA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900416" y="23317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10728" y="20574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5875">
            <a:solidFill>
              <a:srgbClr val="0B63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214884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263347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risk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23317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012680" y="205740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5875">
            <a:solidFill>
              <a:srgbClr val="1474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85832" y="214884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085832" y="263347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role-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7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web app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34290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Data Stream is now a real, authenticated ingestion path — not a placeholder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840480"/>
            <a:ext cx="10789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Device-authenticated POST /api/ingest/readings — the exact HTTP path a real sensor gateway would call, kept separate from staff/admin logins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Framework: 4 independent checks (missing, outlier, drift, noise) combined into a single trust score, enforced before analytics ever runs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Isolation Forest anomaly detection + ARIMA forecasting (auto-selected by AIC), with a documented fallback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access: 4-tier role hierarchy (Staff → Quality Supervisor → Operations Manager → Administrator), enforced server-side on every request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 dashboard: Real-Time Monitoring, Data Quality, Alerts, Risk &amp; Business Impact, Reports (PDF export), User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1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Monitoring</a:t>
            </a:r>
            <a:endParaRPr lang="en-US" sz="3000" dirty="0"/>
          </a:p>
        </p:txBody>
      </p:sp>
      <p:pic>
        <p:nvPicPr>
          <p:cNvPr id="4" name="Image 0" descr="C:/Users/hp/AppData/Local/Temp/claude/d--Projects-Data-Management-Project/f1637f22-c154-4314-8b40-9aace7c62ede/scratchpad/deck_shots/02-monit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189" y="1783080"/>
            <a:ext cx="5720063" cy="46634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82033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1186189" y="1783080"/>
            <a:ext cx="5720063" cy="46634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9202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 is recomputed live from the newest ~30 minutes on every request — not a static label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triangles: real glitch readings from the actual Kaggle sensor dataset, automatically excluded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is ARIMA (auto order selection), with a linear-trend fallback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is the unit's safe limit — note the real excursions above it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2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— The Core Contribution</a:t>
            </a:r>
            <a:endParaRPr lang="en-US" sz="3000" dirty="0"/>
          </a:p>
        </p:txBody>
      </p:sp>
      <p:pic>
        <p:nvPicPr>
          <p:cNvPr id="4" name="Image 0" descr="C:/Users/hp/AppData/Local/Temp/claude/d--Projects-Data-Management-Project/f1637f22-c154-4314-8b40-9aace7c62ede/scratchpad/deck_shots/03-quality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7617" y="1783080"/>
            <a:ext cx="6452006" cy="44805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82033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877617" y="1783080"/>
            <a:ext cx="6452006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405K real readings, under 0.3% excluded as glitches, nearly every window scores High — an honest result, not a tuned one. The fault-injection demo (next) is what shows the layer reacting.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3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Injection — Isolated vs. Systemic Faults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real 30-minute window, corrupted in memory with a synthetic fault, scored by the real engine</a:t>
            </a:r>
            <a:endParaRPr lang="en-US" sz="1400" dirty="0"/>
          </a:p>
        </p:txBody>
      </p:sp>
      <p:pic>
        <p:nvPicPr>
          <p:cNvPr id="5" name="Image 0" descr="C:/Users/hp/AppData/Local/Temp/claude/d--Projects-Data-Management-Project/f1637f22-c154-4314-8b40-9aace7c62ede/scratchpad/deck_shots/04-fault-sp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88014"/>
            <a:ext cx="5440680" cy="2304733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82033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02920" y="1888014"/>
            <a:ext cx="5440680" cy="230473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E3EC"/>
            </a:solidFill>
            <a:prstDash val="solid"/>
          </a:ln>
        </p:spPr>
      </p:sp>
      <p:pic>
        <p:nvPicPr>
          <p:cNvPr id="7" name="Image 1" descr="C:/Users/hp/AppData/Local/Temp/claude/d--Projects-Data-Management-Project/f1637f22-c154-4314-8b40-9aace7c62ede/scratchpad/deck_shots/05-fault-dr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88014"/>
            <a:ext cx="5440680" cy="2304733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82033">
                <a:alpha val="25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6263640" y="1888014"/>
            <a:ext cx="5440680" cy="230473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02920" y="44348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E4F5EC"/>
          </a:solidFill>
          <a:ln w="9525">
            <a:solidFill>
              <a:srgbClr val="BEE3C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45720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7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fault → excluded, not trusted-away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493776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→ 99.7, stays High. One bad reading is flagged and excluded downstream — it doesn't need to poison the whole window.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63640" y="44348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DF1D6"/>
          </a:solidFill>
          <a:ln w="9525">
            <a:solidFill>
              <a:srgbClr val="F0DBA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46520" y="45720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Systemic fault → the whole window loses trust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493776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→ 80, drops to Medium. Drift biases every reading in the window, not just one — so it can never be rated High.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4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&amp; Risk Impact — From Detection to a Dollar Figure</a:t>
            </a:r>
            <a:endParaRPr lang="en-US" sz="3000" dirty="0"/>
          </a:p>
        </p:txBody>
      </p:sp>
      <p:pic>
        <p:nvPicPr>
          <p:cNvPr id="4" name="Image 0" descr="C:/Users/hp/AppData/Local/Temp/claude/d--Projects-Data-Management-Project/f1637f22-c154-4314-8b40-9aace7c62ede/scratchpad/deck_shots/06-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02180"/>
            <a:ext cx="5486400" cy="21336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82033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02920" y="2202180"/>
            <a:ext cx="5486400" cy="21336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E3EC"/>
            </a:solidFill>
            <a:prstDash val="solid"/>
          </a:ln>
        </p:spPr>
      </p:sp>
      <p:pic>
        <p:nvPicPr>
          <p:cNvPr id="6" name="Image 1" descr="C:/Users/hp/AppData/Local/Temp/claude/d--Projects-Data-Management-Project/f1637f22-c154-4314-8b40-9aace7c62ede/scratchpad/deck_shots/07-impact-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59940"/>
            <a:ext cx="5440680" cy="24180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82033">
                <a:alpha val="2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263640" y="2059940"/>
            <a:ext cx="5440680" cy="24180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02920" y="4892040"/>
            <a:ext cx="11201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excursions (rule-based) vs. early warnings (Isolation Forest, quality-filtered data only)  •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= exposed sales × spoilage probability, which rises with minutes spent above the safe limit  •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acknowledgement and every estimate carries the data-trust score behind it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5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Enterprise Access Control</a:t>
            </a:r>
            <a:endParaRPr lang="en-US" sz="3000" dirty="0"/>
          </a:p>
        </p:txBody>
      </p:sp>
      <p:pic>
        <p:nvPicPr>
          <p:cNvPr id="4" name="Image 0" descr="C:/Users/hp/AppData/Local/Temp/claude/d--Projects-Data-Management-Project/f1637f22-c154-4314-8b40-9aace7c62ede/scratchpad/deck_shots/08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89760"/>
            <a:ext cx="5486400" cy="28956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82033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02920" y="1889760"/>
            <a:ext cx="5486400" cy="28956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E3EC"/>
            </a:solidFill>
            <a:prstDash val="solid"/>
          </a:ln>
        </p:spPr>
      </p:sp>
      <p:pic>
        <p:nvPicPr>
          <p:cNvPr id="6" name="Image 1" descr="C:/Users/hp/AppData/Local/Temp/claude/d--Projects-Data-Management-Project/f1637f22-c154-4314-8b40-9aace7c62ede/scratchpad/deck_shots/09-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366" y="1828800"/>
            <a:ext cx="4345229" cy="30175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82033">
                <a:alpha val="2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811366" y="1828800"/>
            <a:ext cx="4345229" cy="30175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02920" y="5074920"/>
            <a:ext cx="11201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of the combined quality / alerts / impact summary  •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8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role hierarchy — Staff, Quality Supervisor, Operations Manager, Administrator — enforced server-side on every request, not just hidden in the UI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HONESTY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Cannot Do Yet — Named on Purpose</a:t>
            </a:r>
            <a:endParaRPr lang="en-US" sz="3000" dirty="0"/>
          </a:p>
        </p:txBody>
      </p:sp>
      <p:pic>
        <p:nvPicPr>
          <p:cNvPr id="4" name="Image 0" descr="C:/Users/hp/AppData/Local/Temp/claude/d--Projects-Data-Management-Project/f1637f22-c154-4314-8b40-9aace7c62ede/scratchpad/deck_shots/10-staff-restr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8983"/>
            <a:ext cx="5029200" cy="1082675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82033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02920" y="2018983"/>
            <a:ext cx="5029200" cy="108267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3364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role: demo controls visibly disabled with the required role named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06440" y="1828800"/>
            <a:ext cx="5897880" cy="1481328"/>
          </a:xfrm>
          <a:prstGeom prst="roundRect">
            <a:avLst>
              <a:gd name="adj" fmla="val 4321"/>
            </a:avLst>
          </a:prstGeom>
          <a:solidFill>
            <a:srgbClr val="F4F6F9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92024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Subtle calibration bias is undetectable from one sensor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2304288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in-range offset is indistinguishable from a genuinely warmer unit using single-sensor statistics. Needs cross-sensor comparison or reference calibration — a named test (test_moderate_calibration_bias_is_a_known_blind_spot) pins this down rather than hiding it.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440" y="3456432"/>
            <a:ext cx="5897880" cy="1481328"/>
          </a:xfrm>
          <a:prstGeom prst="roundRect">
            <a:avLst>
              <a:gd name="adj" fmla="val 4321"/>
            </a:avLst>
          </a:prstGeom>
          <a:solidFill>
            <a:srgbClr val="F4F6F9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89320" y="3547872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authentication uses one shared API key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3931920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a demo; a real deployment would provision one key or certificate per device.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06440" y="5084064"/>
            <a:ext cx="5897880" cy="1481328"/>
          </a:xfrm>
          <a:prstGeom prst="roundRect">
            <a:avLst>
              <a:gd name="adj" fmla="val 4321"/>
            </a:avLst>
          </a:prstGeom>
          <a:solidFill>
            <a:srgbClr val="F4F6F9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89320" y="5175504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Manager is a placeholder tier today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5559552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hierarchy is real and enforced, but no feature yet specifically needs a middle tier — threshold configuration is the natural next fit.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 limitation before being asked is stronger evidence of understanding than claiming the system is complete.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to Final Submission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0B63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2137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Cross-sensor calibration checks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21374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one named blind spot using multi-sensor comparison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71850" y="201168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E6F0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0450" y="2240280"/>
            <a:ext cx="457200" cy="457200"/>
          </a:xfrm>
          <a:prstGeom prst="ellipse">
            <a:avLst/>
          </a:prstGeom>
          <a:solidFill>
            <a:srgbClr val="0B63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0045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00450" y="2834640"/>
            <a:ext cx="2137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notifications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00450" y="3520440"/>
            <a:ext cx="21374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out (email/SMS) instead of requiring a dashboard visit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40780" y="201168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9380" y="2240280"/>
            <a:ext cx="457200" cy="457200"/>
          </a:xfrm>
          <a:prstGeom prst="ellipse">
            <a:avLst/>
          </a:prstGeom>
          <a:solidFill>
            <a:srgbClr val="0B63B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93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9380" y="2834640"/>
            <a:ext cx="2137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logging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69380" y="3520440"/>
            <a:ext cx="21374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who ran the demo, changed a role, or acknowledged an alert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09710" y="201168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E6F0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38310" y="2240280"/>
            <a:ext cx="457200" cy="457200"/>
          </a:xfrm>
          <a:prstGeom prst="ellipse">
            <a:avLst/>
          </a:prstGeom>
          <a:solidFill>
            <a:srgbClr val="0B63B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3831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38310" y="2834640"/>
            <a:ext cx="2137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on real industry data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38310" y="3520440"/>
            <a:ext cx="21374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same pipeline against real John Keells-style cold-chain data once available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709160"/>
            <a:ext cx="11201400" cy="1143000"/>
          </a:xfrm>
          <a:prstGeom prst="roundRect">
            <a:avLst>
              <a:gd name="adj" fmla="val 5600"/>
            </a:avLst>
          </a:prstGeom>
          <a:solidFill>
            <a:srgbClr val="0F1B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70916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data-quality layer, analytics, and enterprise access control are built and demonstrated today — what remains is depth, not direction.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640080" y="-6400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dirty="0">
                <a:solidFill>
                  <a:srgbClr val="182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47548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dirty="0">
                <a:solidFill>
                  <a:srgbClr val="182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15000" dirty="0"/>
          </a:p>
        </p:txBody>
      </p:sp>
      <p:sp>
        <p:nvSpPr>
          <p:cNvPr id="4" name="Text 2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ColdSense-DQ  —  Questions &amp; Live Demo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2026-10-01T17:02:16Z</dcterms:created>
  <dcterms:modified xsi:type="dcterms:W3CDTF">2026-10-01T17:02:16Z</dcterms:modified>
</cp:coreProperties>
</file>